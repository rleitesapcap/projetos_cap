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Helvetica Neue"/>
      <p:regular r:id="rId28"/>
      <p:bold r:id="rId29"/>
      <p:italic r:id="rId30"/>
      <p:boldItalic r:id="rId31"/>
    </p:embeddedFont>
    <p:embeddedFont>
      <p:font typeface="Helvetica Neue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47">
          <p15:clr>
            <a:srgbClr val="A4A3A4"/>
          </p15:clr>
        </p15:guide>
        <p15:guide id="2" pos="7242">
          <p15:clr>
            <a:srgbClr val="A4A3A4"/>
          </p15:clr>
        </p15:guide>
        <p15:guide id="3" orient="horz" pos="4156">
          <p15:clr>
            <a:srgbClr val="A4A3A4"/>
          </p15:clr>
        </p15:guide>
      </p15:sldGuideLst>
    </p:ext>
    <p:ext uri="GoogleSlidesCustomDataVersion2">
      <go:slidesCustomData xmlns:go="http://customooxmlschemas.google.com/" r:id="rId36" roundtripDataSignature="AMtx7mgL4e/fOZ2IfdmYTvNtiEekkhk7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7"/>
        <p:guide pos="7242"/>
        <p:guide pos="41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6.xml"/><Relationship Id="rId33" Type="http://schemas.openxmlformats.org/officeDocument/2006/relationships/font" Target="fonts/HelveticaNeueLight-bold.fntdata"/><Relationship Id="rId10" Type="http://schemas.openxmlformats.org/officeDocument/2006/relationships/slide" Target="slides/slide5.xml"/><Relationship Id="rId32" Type="http://schemas.openxmlformats.org/officeDocument/2006/relationships/font" Target="fonts/HelveticaNeueLight-regular.fntdata"/><Relationship Id="rId13" Type="http://schemas.openxmlformats.org/officeDocument/2006/relationships/slide" Target="slides/slide8.xml"/><Relationship Id="rId35" Type="http://schemas.openxmlformats.org/officeDocument/2006/relationships/font" Target="fonts/HelveticaNeueLight-boldItalic.fntdata"/><Relationship Id="rId12" Type="http://schemas.openxmlformats.org/officeDocument/2006/relationships/slide" Target="slides/slide7.xml"/><Relationship Id="rId34" Type="http://schemas.openxmlformats.org/officeDocument/2006/relationships/font" Target="fonts/HelveticaNeueLight-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035bc5ceda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1035bc5ceda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a21c0bc7da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1a21c0bc7da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ec505ed67e_0_4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660"/>
              </a:spcBef>
              <a:spcAft>
                <a:spcPts val="0"/>
              </a:spcAft>
              <a:buSzPts val="1400"/>
              <a:buNone/>
            </a:pPr>
            <a:r>
              <a:t/>
            </a:r>
            <a:endParaRPr/>
          </a:p>
        </p:txBody>
      </p:sp>
      <p:sp>
        <p:nvSpPr>
          <p:cNvPr id="112" name="Google Shape;112;g1ec505ed67e_0_4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ec505ed67e_0_6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660"/>
              </a:spcBef>
              <a:spcAft>
                <a:spcPts val="0"/>
              </a:spcAft>
              <a:buSzPts val="1400"/>
              <a:buNone/>
            </a:pPr>
            <a:r>
              <a:t/>
            </a:r>
            <a:endParaRPr/>
          </a:p>
        </p:txBody>
      </p:sp>
      <p:sp>
        <p:nvSpPr>
          <p:cNvPr id="126" name="Google Shape;126;g1ec505ed67e_0_6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c505ed67e_0_4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1ec505ed67e_0_4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d5781ae836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2d5781ae836_1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ec505ed67e_0_4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ec505ed67e_0_4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ec505ed67e_0_2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8000"/>
              </a:lnSpc>
              <a:spcBef>
                <a:spcPts val="660"/>
              </a:spcBef>
              <a:spcAft>
                <a:spcPts val="0"/>
              </a:spcAft>
              <a:buSzPts val="1400"/>
              <a:buNone/>
            </a:pPr>
            <a:r>
              <a:t/>
            </a:r>
            <a:endParaRPr/>
          </a:p>
        </p:txBody>
      </p:sp>
      <p:sp>
        <p:nvSpPr>
          <p:cNvPr id="184" name="Google Shape;184;g1ec505ed67e_0_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ec505ed67e_0_7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1ec505ed67e_0_7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ec505ed67e_0_5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1ec505ed67e_0_5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ec505ed67e_0_8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1ec505ed67e_0_8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ec505ed67e_0_9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1ec505ed67e_0_9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e24594d03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1e24594d039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ec505ed67e_0_10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1ec505ed67e_0_10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ff8951109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1ff8951109d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ff8951109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1ff8951109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ec505ed67e_0_10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1ec505ed67e_0_10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ec505ed67e_0_10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1ec505ed67e_0_10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ff8951109d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1ff8951109d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ec505ed67e_0_10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1ec505ed67e_0_10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ec99e7a8a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1ec99e7a8a2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e5f072a9c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e5f072a9c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Marcadores" type="tx">
  <p:cSld name="TITLE_AND_BODY">
    <p:spTree>
      <p:nvGrpSpPr>
        <p:cNvPr id="80" name="Shape 80"/>
        <p:cNvGrpSpPr/>
        <p:nvPr/>
      </p:nvGrpSpPr>
      <p:grpSpPr>
        <a:xfrm>
          <a:off x="0" y="0"/>
          <a:ext cx="0" cy="0"/>
          <a:chOff x="0" y="0"/>
          <a:chExt cx="0" cy="0"/>
        </a:xfrm>
      </p:grpSpPr>
      <p:sp>
        <p:nvSpPr>
          <p:cNvPr id="81" name="Google Shape;81;g1ec505ed67e_0_329"/>
          <p:cNvSpPr txBox="1"/>
          <p:nvPr>
            <p:ph type="title"/>
          </p:nvPr>
        </p:nvSpPr>
        <p:spPr>
          <a:xfrm>
            <a:off x="844550" y="177800"/>
            <a:ext cx="10503000" cy="1143000"/>
          </a:xfrm>
          <a:prstGeom prst="rect">
            <a:avLst/>
          </a:prstGeom>
          <a:noFill/>
          <a:ln>
            <a:noFill/>
          </a:ln>
        </p:spPr>
        <p:txBody>
          <a:bodyPr anchorCtr="0" anchor="ctr" bIns="25400" lIns="25400" spcFirstLastPara="1" rIns="25400" wrap="square" tIns="25400">
            <a:noAutofit/>
          </a:bodyPr>
          <a:lstStyle>
            <a:lvl1pPr lvl="0" rtl="0" algn="ctr">
              <a:lnSpc>
                <a:spcPct val="100000"/>
              </a:lnSpc>
              <a:spcBef>
                <a:spcPts val="0"/>
              </a:spcBef>
              <a:spcAft>
                <a:spcPts val="0"/>
              </a:spcAft>
              <a:buSzPts val="700"/>
              <a:buNone/>
              <a:defRPr/>
            </a:lvl1pPr>
            <a:lvl2pPr lvl="1" rtl="0" algn="ctr">
              <a:lnSpc>
                <a:spcPct val="100000"/>
              </a:lnSpc>
              <a:spcBef>
                <a:spcPts val="0"/>
              </a:spcBef>
              <a:spcAft>
                <a:spcPts val="0"/>
              </a:spcAft>
              <a:buSzPts val="700"/>
              <a:buNone/>
              <a:defRPr/>
            </a:lvl2pPr>
            <a:lvl3pPr lvl="2" rtl="0" algn="ctr">
              <a:lnSpc>
                <a:spcPct val="100000"/>
              </a:lnSpc>
              <a:spcBef>
                <a:spcPts val="0"/>
              </a:spcBef>
              <a:spcAft>
                <a:spcPts val="0"/>
              </a:spcAft>
              <a:buSzPts val="700"/>
              <a:buNone/>
              <a:defRPr/>
            </a:lvl3pPr>
            <a:lvl4pPr lvl="3" rtl="0" algn="ctr">
              <a:lnSpc>
                <a:spcPct val="100000"/>
              </a:lnSpc>
              <a:spcBef>
                <a:spcPts val="0"/>
              </a:spcBef>
              <a:spcAft>
                <a:spcPts val="0"/>
              </a:spcAft>
              <a:buSzPts val="700"/>
              <a:buNone/>
              <a:defRPr/>
            </a:lvl4pPr>
            <a:lvl5pPr lvl="4" rtl="0" algn="ctr">
              <a:lnSpc>
                <a:spcPct val="100000"/>
              </a:lnSpc>
              <a:spcBef>
                <a:spcPts val="0"/>
              </a:spcBef>
              <a:spcAft>
                <a:spcPts val="0"/>
              </a:spcAft>
              <a:buSzPts val="700"/>
              <a:buNone/>
              <a:defRPr/>
            </a:lvl5pPr>
            <a:lvl6pPr lvl="5" rtl="0" algn="ctr">
              <a:lnSpc>
                <a:spcPct val="100000"/>
              </a:lnSpc>
              <a:spcBef>
                <a:spcPts val="0"/>
              </a:spcBef>
              <a:spcAft>
                <a:spcPts val="0"/>
              </a:spcAft>
              <a:buClr>
                <a:srgbClr val="000000"/>
              </a:buClr>
              <a:buSzPts val="900"/>
              <a:buNone/>
              <a:defRPr/>
            </a:lvl6pPr>
            <a:lvl7pPr lvl="6" rtl="0" algn="ctr">
              <a:lnSpc>
                <a:spcPct val="100000"/>
              </a:lnSpc>
              <a:spcBef>
                <a:spcPts val="0"/>
              </a:spcBef>
              <a:spcAft>
                <a:spcPts val="0"/>
              </a:spcAft>
              <a:buClr>
                <a:srgbClr val="000000"/>
              </a:buClr>
              <a:buSzPts val="900"/>
              <a:buNone/>
              <a:defRPr/>
            </a:lvl7pPr>
            <a:lvl8pPr lvl="7" rtl="0" algn="ctr">
              <a:lnSpc>
                <a:spcPct val="100000"/>
              </a:lnSpc>
              <a:spcBef>
                <a:spcPts val="0"/>
              </a:spcBef>
              <a:spcAft>
                <a:spcPts val="0"/>
              </a:spcAft>
              <a:buClr>
                <a:srgbClr val="000000"/>
              </a:buClr>
              <a:buSzPts val="900"/>
              <a:buNone/>
              <a:defRPr/>
            </a:lvl8pPr>
            <a:lvl9pPr lvl="8" rtl="0" algn="ctr">
              <a:lnSpc>
                <a:spcPct val="100000"/>
              </a:lnSpc>
              <a:spcBef>
                <a:spcPts val="0"/>
              </a:spcBef>
              <a:spcAft>
                <a:spcPts val="0"/>
              </a:spcAft>
              <a:buClr>
                <a:srgbClr val="000000"/>
              </a:buClr>
              <a:buSzPts val="900"/>
              <a:buNone/>
              <a:defRPr/>
            </a:lvl9pPr>
          </a:lstStyle>
          <a:p/>
        </p:txBody>
      </p:sp>
      <p:sp>
        <p:nvSpPr>
          <p:cNvPr id="82" name="Google Shape;82;g1ec505ed67e_0_329"/>
          <p:cNvSpPr txBox="1"/>
          <p:nvPr>
            <p:ph idx="1" type="body"/>
          </p:nvPr>
        </p:nvSpPr>
        <p:spPr>
          <a:xfrm>
            <a:off x="844550" y="1574800"/>
            <a:ext cx="10503000" cy="4648200"/>
          </a:xfrm>
          <a:prstGeom prst="rect">
            <a:avLst/>
          </a:prstGeom>
          <a:noFill/>
          <a:ln>
            <a:noFill/>
          </a:ln>
        </p:spPr>
        <p:txBody>
          <a:bodyPr anchorCtr="0" anchor="ctr" bIns="25400" lIns="25400" spcFirstLastPara="1" rIns="25400" wrap="square" tIns="25400">
            <a:noAutofit/>
          </a:bodyPr>
          <a:lstStyle>
            <a:lvl1pPr indent="-419100" lvl="0" marL="457200" rtl="0" algn="l">
              <a:lnSpc>
                <a:spcPct val="100000"/>
              </a:lnSpc>
              <a:spcBef>
                <a:spcPts val="3000"/>
              </a:spcBef>
              <a:spcAft>
                <a:spcPts val="0"/>
              </a:spcAft>
              <a:buClr>
                <a:srgbClr val="000000"/>
              </a:buClr>
              <a:buSzPts val="3000"/>
              <a:buFont typeface="Helvetica Neue"/>
              <a:buChar char="•"/>
              <a:defRPr sz="2400"/>
            </a:lvl1pPr>
            <a:lvl2pPr indent="-419100" lvl="1" marL="914400" rtl="0" algn="l">
              <a:lnSpc>
                <a:spcPct val="100000"/>
              </a:lnSpc>
              <a:spcBef>
                <a:spcPts val="3000"/>
              </a:spcBef>
              <a:spcAft>
                <a:spcPts val="0"/>
              </a:spcAft>
              <a:buClr>
                <a:srgbClr val="000000"/>
              </a:buClr>
              <a:buSzPts val="3000"/>
              <a:buFont typeface="Helvetica Neue"/>
              <a:buChar char="•"/>
              <a:defRPr sz="2400"/>
            </a:lvl2pPr>
            <a:lvl3pPr indent="-419100" lvl="2" marL="1371600" rtl="0" algn="l">
              <a:lnSpc>
                <a:spcPct val="100000"/>
              </a:lnSpc>
              <a:spcBef>
                <a:spcPts val="3000"/>
              </a:spcBef>
              <a:spcAft>
                <a:spcPts val="0"/>
              </a:spcAft>
              <a:buClr>
                <a:srgbClr val="000000"/>
              </a:buClr>
              <a:buSzPts val="3000"/>
              <a:buFont typeface="Helvetica Neue"/>
              <a:buChar char="•"/>
              <a:defRPr sz="2400"/>
            </a:lvl3pPr>
            <a:lvl4pPr indent="-419100" lvl="3" marL="1828800" rtl="0" algn="l">
              <a:lnSpc>
                <a:spcPct val="100000"/>
              </a:lnSpc>
              <a:spcBef>
                <a:spcPts val="3000"/>
              </a:spcBef>
              <a:spcAft>
                <a:spcPts val="0"/>
              </a:spcAft>
              <a:buClr>
                <a:srgbClr val="000000"/>
              </a:buClr>
              <a:buSzPts val="3000"/>
              <a:buFont typeface="Helvetica Neue"/>
              <a:buChar char="•"/>
              <a:defRPr sz="2400"/>
            </a:lvl4pPr>
            <a:lvl5pPr indent="-419100" lvl="4" marL="2286000" rtl="0" algn="l">
              <a:lnSpc>
                <a:spcPct val="100000"/>
              </a:lnSpc>
              <a:spcBef>
                <a:spcPts val="3000"/>
              </a:spcBef>
              <a:spcAft>
                <a:spcPts val="0"/>
              </a:spcAft>
              <a:buClr>
                <a:srgbClr val="000000"/>
              </a:buClr>
              <a:buSzPts val="3000"/>
              <a:buFont typeface="Helvetica Neue"/>
              <a:buChar char="•"/>
              <a:defRPr sz="2400"/>
            </a:lvl5pPr>
            <a:lvl6pPr indent="-298450" lvl="5" marL="2743200" rtl="0" algn="l">
              <a:lnSpc>
                <a:spcPct val="100000"/>
              </a:lnSpc>
              <a:spcBef>
                <a:spcPts val="3000"/>
              </a:spcBef>
              <a:spcAft>
                <a:spcPts val="0"/>
              </a:spcAft>
              <a:buClr>
                <a:srgbClr val="000000"/>
              </a:buClr>
              <a:buSzPts val="1100"/>
              <a:buChar char="•"/>
              <a:defRPr/>
            </a:lvl6pPr>
            <a:lvl7pPr indent="-298450" lvl="6" marL="3200400" rtl="0" algn="l">
              <a:lnSpc>
                <a:spcPct val="100000"/>
              </a:lnSpc>
              <a:spcBef>
                <a:spcPts val="3000"/>
              </a:spcBef>
              <a:spcAft>
                <a:spcPts val="0"/>
              </a:spcAft>
              <a:buClr>
                <a:srgbClr val="000000"/>
              </a:buClr>
              <a:buSzPts val="1100"/>
              <a:buChar char="•"/>
              <a:defRPr/>
            </a:lvl7pPr>
            <a:lvl8pPr indent="-298450" lvl="7" marL="3657600" rtl="0" algn="l">
              <a:lnSpc>
                <a:spcPct val="100000"/>
              </a:lnSpc>
              <a:spcBef>
                <a:spcPts val="3000"/>
              </a:spcBef>
              <a:spcAft>
                <a:spcPts val="0"/>
              </a:spcAft>
              <a:buClr>
                <a:srgbClr val="000000"/>
              </a:buClr>
              <a:buSzPts val="1100"/>
              <a:buChar char="•"/>
              <a:defRPr/>
            </a:lvl8pPr>
            <a:lvl9pPr indent="-298450" lvl="8" marL="4114800" rtl="0" algn="l">
              <a:lnSpc>
                <a:spcPct val="100000"/>
              </a:lnSpc>
              <a:spcBef>
                <a:spcPts val="3000"/>
              </a:spcBef>
              <a:spcAft>
                <a:spcPts val="0"/>
              </a:spcAft>
              <a:buClr>
                <a:srgbClr val="000000"/>
              </a:buClr>
              <a:buSzPts val="1100"/>
              <a:buChar char="•"/>
              <a:defRPr/>
            </a:lvl9pPr>
          </a:lstStyle>
          <a:p/>
        </p:txBody>
      </p:sp>
      <p:sp>
        <p:nvSpPr>
          <p:cNvPr id="83" name="Google Shape;83;g1ec505ed67e_0_329"/>
          <p:cNvSpPr txBox="1"/>
          <p:nvPr>
            <p:ph idx="12" type="sldNum"/>
          </p:nvPr>
        </p:nvSpPr>
        <p:spPr>
          <a:xfrm>
            <a:off x="5979319" y="6540500"/>
            <a:ext cx="227100" cy="236100"/>
          </a:xfrm>
          <a:prstGeom prst="rect">
            <a:avLst/>
          </a:prstGeom>
          <a:noFill/>
          <a:ln>
            <a:noFill/>
          </a:ln>
        </p:spPr>
        <p:txBody>
          <a:bodyPr anchorCtr="0" anchor="t" bIns="25400" lIns="25400" spcFirstLastPara="1" rIns="25400" wrap="square" tIns="25400">
            <a:sp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plataforma.leroymerlin.com.br/help-center/646c4ebea3dd5cad0088d2eb" TargetMode="External"/><Relationship Id="rId6" Type="http://schemas.openxmlformats.org/officeDocument/2006/relationships/hyperlink" Target="https://plataforma.leroymerlin.com.br/help-center/646c4ebea3dd5cad0088d2eb" TargetMode="External"/><Relationship Id="rId7" Type="http://schemas.openxmlformats.org/officeDocument/2006/relationships/hyperlink" Target="https://drive.google.com/file/d/1gRJsD_cZjymL6ZVvipeeLfAqwUj82uaW/view?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plataforma.leroymerlin.com.br/help-center/646c4ebea3dd5cad0088d2eb" TargetMode="External"/><Relationship Id="rId6" Type="http://schemas.openxmlformats.org/officeDocument/2006/relationships/hyperlink" Target="https://plataforma.leroymerlin.com.br/help-center/646c4ebea3dd5cad0088d2eb" TargetMode="External"/><Relationship Id="rId7" Type="http://schemas.openxmlformats.org/officeDocument/2006/relationships/hyperlink" Target="https://drive.google.com/file/d/1TTU9dE3lShwDeiWuUL6hMQ_0LaqjSg6g/view?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plataforma.leroymerlin.com.br/help-center/646c4ebea3dd5cad0088d2eb" TargetMode="External"/><Relationship Id="rId6" Type="http://schemas.openxmlformats.org/officeDocument/2006/relationships/hyperlink" Target="https://plataforma.leroymerlin.com.br/help-center/646c4ebea3dd5cad0088d2eb" TargetMode="External"/><Relationship Id="rId7" Type="http://schemas.openxmlformats.org/officeDocument/2006/relationships/hyperlink" Target="https://drive.google.com/file/d/1eUeFHEK-U7oQPQWpWrbCb9IJ2iZFoHHB/view?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30.png"/><Relationship Id="rId6" Type="http://schemas.openxmlformats.org/officeDocument/2006/relationships/image" Target="../media/image29.png"/><Relationship Id="rId7"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drive.google.com/file/d/1gRJsD_cZjymL6ZVvipeeLfAqwUj82uaW/view?usp=sharing" TargetMode="External"/><Relationship Id="rId6" Type="http://schemas.openxmlformats.org/officeDocument/2006/relationships/hyperlink" Target="https://drive.google.com/file/d/1TTU9dE3lShwDeiWuUL6hMQ_0LaqjSg6g/view?usp=sharing" TargetMode="External"/><Relationship Id="rId7" Type="http://schemas.openxmlformats.org/officeDocument/2006/relationships/hyperlink" Target="https://drive.google.com/file/d/1eUeFHEK-U7oQPQWpWrbCb9IJ2iZFoHHB/view?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https://editor.swagger.i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1035bc5ceda_0_11"/>
          <p:cNvSpPr/>
          <p:nvPr/>
        </p:nvSpPr>
        <p:spPr>
          <a:xfrm rot="5400000">
            <a:off x="36450" y="-36300"/>
            <a:ext cx="3656400" cy="3729000"/>
          </a:xfrm>
          <a:prstGeom prst="rtTriangle">
            <a:avLst/>
          </a:prstGeom>
          <a:solidFill>
            <a:srgbClr val="72BF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1035bc5ceda_0_11"/>
          <p:cNvSpPr txBox="1"/>
          <p:nvPr/>
        </p:nvSpPr>
        <p:spPr>
          <a:xfrm>
            <a:off x="4884249" y="3237925"/>
            <a:ext cx="49698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000"/>
              <a:buFont typeface="Arial"/>
              <a:buNone/>
            </a:pPr>
            <a:r>
              <a:rPr b="0" i="0" lang="en-BR" sz="4700" u="none" cap="none" strike="noStrike">
                <a:solidFill>
                  <a:srgbClr val="434343"/>
                </a:solidFill>
                <a:latin typeface="Leroy Merlin Sans"/>
                <a:ea typeface="Leroy Merlin Sans"/>
                <a:cs typeface="Leroy Merlin Sans"/>
                <a:sym typeface="Leroy Merlin Sans"/>
              </a:rPr>
              <a:t>Portal do Fornecedor </a:t>
            </a:r>
            <a:endParaRPr b="0" i="0" sz="4000" u="none" cap="none" strike="noStrike">
              <a:solidFill>
                <a:srgbClr val="434343"/>
              </a:solidFill>
              <a:latin typeface="Leroy Merlin Sans"/>
              <a:ea typeface="Leroy Merlin Sans"/>
              <a:cs typeface="Leroy Merlin Sans"/>
              <a:sym typeface="Leroy Merlin Sans"/>
            </a:endParaRPr>
          </a:p>
        </p:txBody>
      </p:sp>
      <p:sp>
        <p:nvSpPr>
          <p:cNvPr id="90" name="Google Shape;90;g1035bc5ceda_0_11"/>
          <p:cNvSpPr txBox="1"/>
          <p:nvPr/>
        </p:nvSpPr>
        <p:spPr>
          <a:xfrm>
            <a:off x="4507525" y="2033275"/>
            <a:ext cx="6712500" cy="100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5900">
                <a:solidFill>
                  <a:schemeClr val="accent6"/>
                </a:solidFill>
                <a:latin typeface="Leroy Merlin Sans"/>
                <a:ea typeface="Leroy Merlin Sans"/>
                <a:cs typeface="Leroy Merlin Sans"/>
                <a:sym typeface="Leroy Merlin Sans"/>
              </a:rPr>
              <a:t>Integração (API)</a:t>
            </a:r>
            <a:endParaRPr b="0" i="0" sz="2900" u="none" cap="none" strike="noStrike">
              <a:solidFill>
                <a:schemeClr val="accent6"/>
              </a:solidFill>
              <a:latin typeface="Arial"/>
              <a:ea typeface="Arial"/>
              <a:cs typeface="Arial"/>
              <a:sym typeface="Arial"/>
            </a:endParaRPr>
          </a:p>
        </p:txBody>
      </p:sp>
      <p:sp>
        <p:nvSpPr>
          <p:cNvPr id="91" name="Google Shape;91;g1035bc5ceda_0_11"/>
          <p:cNvSpPr/>
          <p:nvPr/>
        </p:nvSpPr>
        <p:spPr>
          <a:xfrm rot="-5400000">
            <a:off x="2628550" y="1628050"/>
            <a:ext cx="1964700" cy="1000500"/>
          </a:xfrm>
          <a:prstGeom prst="triangle">
            <a:avLst>
              <a:gd fmla="val 50000" name="adj"/>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1035bc5ceda_0_11"/>
          <p:cNvSpPr/>
          <p:nvPr/>
        </p:nvSpPr>
        <p:spPr>
          <a:xfrm rot="5400000">
            <a:off x="3720125" y="2774125"/>
            <a:ext cx="1091400" cy="491100"/>
          </a:xfrm>
          <a:prstGeom prst="triangle">
            <a:avLst>
              <a:gd fmla="val 50000" name="adj"/>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1035bc5ceda_0_11"/>
          <p:cNvSpPr/>
          <p:nvPr/>
        </p:nvSpPr>
        <p:spPr>
          <a:xfrm rot="5400000">
            <a:off x="9275225" y="889125"/>
            <a:ext cx="1091400" cy="491100"/>
          </a:xfrm>
          <a:prstGeom prst="triangle">
            <a:avLst>
              <a:gd fmla="val 50000" name="adj"/>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1035bc5ceda_0_11"/>
          <p:cNvSpPr/>
          <p:nvPr/>
        </p:nvSpPr>
        <p:spPr>
          <a:xfrm>
            <a:off x="0" y="873175"/>
            <a:ext cx="5985000" cy="59847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1035bc5ceda_0_11"/>
          <p:cNvSpPr/>
          <p:nvPr/>
        </p:nvSpPr>
        <p:spPr>
          <a:xfrm rot="-5400000">
            <a:off x="8026200" y="2692075"/>
            <a:ext cx="4165800" cy="4165800"/>
          </a:xfrm>
          <a:prstGeom prst="rtTriangle">
            <a:avLst/>
          </a:prstGeom>
          <a:solidFill>
            <a:srgbClr val="72BF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g1a21c0bc7da_0_62"/>
          <p:cNvSpPr txBox="1"/>
          <p:nvPr/>
        </p:nvSpPr>
        <p:spPr>
          <a:xfrm>
            <a:off x="736121" y="872714"/>
            <a:ext cx="4025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BR" sz="4400" u="none" cap="none" strike="noStrike">
                <a:solidFill>
                  <a:srgbClr val="434343"/>
                </a:solidFill>
                <a:latin typeface="Leroy Merlin Sans"/>
                <a:ea typeface="Leroy Merlin Sans"/>
                <a:cs typeface="Leroy Merlin Sans"/>
                <a:sym typeface="Leroy Merlin Sans"/>
              </a:rPr>
              <a:t>Sumário</a:t>
            </a:r>
            <a:endParaRPr b="0" i="0" sz="1400" u="none" cap="none" strike="noStrike">
              <a:solidFill>
                <a:srgbClr val="434343"/>
              </a:solidFill>
              <a:latin typeface="Arial"/>
              <a:ea typeface="Arial"/>
              <a:cs typeface="Arial"/>
              <a:sym typeface="Arial"/>
            </a:endParaRPr>
          </a:p>
        </p:txBody>
      </p:sp>
      <p:pic>
        <p:nvPicPr>
          <p:cNvPr descr="A picture containing shape&#10;&#10;Description automatically generated" id="101" name="Google Shape;101;g1a21c0bc7da_0_62"/>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102" name="Google Shape;102;g1a21c0bc7da_0_62"/>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103" name="Google Shape;103;g1a21c0bc7da_0_62"/>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104" name="Google Shape;104;g1a21c0bc7da_0_62"/>
          <p:cNvSpPr txBox="1"/>
          <p:nvPr/>
        </p:nvSpPr>
        <p:spPr>
          <a:xfrm>
            <a:off x="4981350" y="1808725"/>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Integração de Sistemas via API</a:t>
            </a:r>
            <a:endParaRPr b="0" i="0" sz="800" u="none" cap="none" strike="noStrike">
              <a:solidFill>
                <a:srgbClr val="434343"/>
              </a:solidFill>
              <a:latin typeface="Arial"/>
              <a:ea typeface="Arial"/>
              <a:cs typeface="Arial"/>
              <a:sym typeface="Arial"/>
            </a:endParaRPr>
          </a:p>
        </p:txBody>
      </p:sp>
      <p:sp>
        <p:nvSpPr>
          <p:cNvPr id="105" name="Google Shape;105;g1a21c0bc7da_0_62"/>
          <p:cNvSpPr txBox="1"/>
          <p:nvPr/>
        </p:nvSpPr>
        <p:spPr>
          <a:xfrm>
            <a:off x="4981350" y="2415218"/>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API de Pedidos</a:t>
            </a:r>
            <a:endParaRPr b="0" i="0" sz="800" u="none" cap="none" strike="noStrike">
              <a:solidFill>
                <a:srgbClr val="434343"/>
              </a:solidFill>
              <a:latin typeface="Arial"/>
              <a:ea typeface="Arial"/>
              <a:cs typeface="Arial"/>
              <a:sym typeface="Arial"/>
            </a:endParaRPr>
          </a:p>
        </p:txBody>
      </p:sp>
      <p:sp>
        <p:nvSpPr>
          <p:cNvPr id="106" name="Google Shape;106;g1a21c0bc7da_0_62"/>
          <p:cNvSpPr txBox="1"/>
          <p:nvPr/>
        </p:nvSpPr>
        <p:spPr>
          <a:xfrm>
            <a:off x="4981350" y="3021711"/>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API de Estoque</a:t>
            </a:r>
            <a:endParaRPr b="0" i="0" sz="800" u="none" cap="none" strike="noStrike">
              <a:solidFill>
                <a:srgbClr val="434343"/>
              </a:solidFill>
              <a:latin typeface="Arial"/>
              <a:ea typeface="Arial"/>
              <a:cs typeface="Arial"/>
              <a:sym typeface="Arial"/>
            </a:endParaRPr>
          </a:p>
        </p:txBody>
      </p:sp>
      <p:sp>
        <p:nvSpPr>
          <p:cNvPr id="107" name="Google Shape;107;g1a21c0bc7da_0_62"/>
          <p:cNvSpPr txBox="1"/>
          <p:nvPr/>
        </p:nvSpPr>
        <p:spPr>
          <a:xfrm>
            <a:off x="4981350" y="3628204"/>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API de Produtos</a:t>
            </a:r>
            <a:endParaRPr b="0" i="0" sz="800" u="none" cap="none" strike="noStrike">
              <a:solidFill>
                <a:srgbClr val="434343"/>
              </a:solidFill>
              <a:latin typeface="Arial"/>
              <a:ea typeface="Arial"/>
              <a:cs typeface="Arial"/>
              <a:sym typeface="Arial"/>
            </a:endParaRPr>
          </a:p>
        </p:txBody>
      </p:sp>
      <p:sp>
        <p:nvSpPr>
          <p:cNvPr id="108" name="Google Shape;108;g1a21c0bc7da_0_62"/>
          <p:cNvSpPr txBox="1"/>
          <p:nvPr/>
        </p:nvSpPr>
        <p:spPr>
          <a:xfrm>
            <a:off x="4981350" y="4234696"/>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Integração Completa</a:t>
            </a:r>
            <a:endParaRPr b="0" i="0" sz="800" u="none" cap="none" strike="noStrike">
              <a:solidFill>
                <a:srgbClr val="434343"/>
              </a:solidFill>
              <a:latin typeface="Arial"/>
              <a:ea typeface="Arial"/>
              <a:cs typeface="Arial"/>
              <a:sym typeface="Arial"/>
            </a:endParaRPr>
          </a:p>
        </p:txBody>
      </p:sp>
      <p:sp>
        <p:nvSpPr>
          <p:cNvPr id="109" name="Google Shape;109;g1a21c0bc7da_0_62"/>
          <p:cNvSpPr txBox="1"/>
          <p:nvPr/>
        </p:nvSpPr>
        <p:spPr>
          <a:xfrm>
            <a:off x="4981350" y="4845625"/>
            <a:ext cx="5171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BR" sz="2200">
                <a:solidFill>
                  <a:srgbClr val="434343"/>
                </a:solidFill>
                <a:latin typeface="Leroy Merlin Sans"/>
                <a:ea typeface="Leroy Merlin Sans"/>
                <a:cs typeface="Leroy Merlin Sans"/>
                <a:sym typeface="Leroy Merlin Sans"/>
              </a:rPr>
              <a:t>Entre em Contato</a:t>
            </a:r>
            <a:endParaRPr b="0" i="0" sz="800" u="none" cap="none" strike="noStrike">
              <a:solidFill>
                <a:srgbClr val="43434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ec505ed67e_0_410"/>
          <p:cNvSpPr txBox="1"/>
          <p:nvPr/>
        </p:nvSpPr>
        <p:spPr>
          <a:xfrm>
            <a:off x="4605625" y="1171625"/>
            <a:ext cx="7586700" cy="519300"/>
          </a:xfrm>
          <a:prstGeom prst="rect">
            <a:avLst/>
          </a:prstGeom>
          <a:noFill/>
          <a:ln>
            <a:noFill/>
          </a:ln>
        </p:spPr>
        <p:txBody>
          <a:bodyPr anchorCtr="0" anchor="ctr" bIns="25400" lIns="25400" spcFirstLastPara="1" rIns="25400" wrap="square" tIns="25400">
            <a:spAutoFit/>
          </a:bodyPr>
          <a:lstStyle/>
          <a:p>
            <a:pPr indent="114300" lvl="1" marL="0" marR="0" rtl="0" algn="l">
              <a:lnSpc>
                <a:spcPct val="80000"/>
              </a:lnSpc>
              <a:spcBef>
                <a:spcPts val="0"/>
              </a:spcBef>
              <a:spcAft>
                <a:spcPts val="0"/>
              </a:spcAft>
              <a:buClr>
                <a:srgbClr val="000000"/>
              </a:buClr>
              <a:buSzPts val="4000"/>
              <a:buFont typeface="Arial"/>
              <a:buNone/>
            </a:pPr>
            <a:r>
              <a:rPr b="1" i="0" lang="en-BR" sz="3800" u="none" cap="none" strike="noStrike">
                <a:solidFill>
                  <a:srgbClr val="9F9F9F"/>
                </a:solidFill>
                <a:latin typeface="Arial"/>
                <a:ea typeface="Arial"/>
                <a:cs typeface="Arial"/>
                <a:sym typeface="Arial"/>
              </a:rPr>
              <a:t>Integração Sistêmica via API</a:t>
            </a:r>
            <a:endParaRPr b="1" i="0" sz="3800" u="none" cap="none" strike="noStrike">
              <a:solidFill>
                <a:srgbClr val="9F9F9F"/>
              </a:solidFill>
              <a:latin typeface="Arial"/>
              <a:ea typeface="Arial"/>
              <a:cs typeface="Arial"/>
              <a:sym typeface="Arial"/>
            </a:endParaRPr>
          </a:p>
        </p:txBody>
      </p:sp>
      <p:cxnSp>
        <p:nvCxnSpPr>
          <p:cNvPr id="115" name="Google Shape;115;g1ec505ed67e_0_410"/>
          <p:cNvCxnSpPr/>
          <p:nvPr/>
        </p:nvCxnSpPr>
        <p:spPr>
          <a:xfrm>
            <a:off x="4748719" y="1855932"/>
            <a:ext cx="1692600" cy="0"/>
          </a:xfrm>
          <a:prstGeom prst="straightConnector1">
            <a:avLst/>
          </a:prstGeom>
          <a:noFill/>
          <a:ln cap="flat" cmpd="sng" w="76200">
            <a:solidFill>
              <a:srgbClr val="549E39"/>
            </a:solidFill>
            <a:prstDash val="solid"/>
            <a:miter lim="400000"/>
            <a:headEnd len="sm" w="sm" type="none"/>
            <a:tailEnd len="sm" w="sm" type="none"/>
          </a:ln>
        </p:spPr>
      </p:cxnSp>
      <p:pic>
        <p:nvPicPr>
          <p:cNvPr id="116" name="Google Shape;116;g1ec505ed67e_0_410"/>
          <p:cNvPicPr preferRelativeResize="0"/>
          <p:nvPr/>
        </p:nvPicPr>
        <p:blipFill rotWithShape="1">
          <a:blip r:embed="rId3">
            <a:alphaModFix/>
          </a:blip>
          <a:srcRect b="0" l="0" r="0" t="0"/>
          <a:stretch/>
        </p:blipFill>
        <p:spPr>
          <a:xfrm>
            <a:off x="591210" y="3214663"/>
            <a:ext cx="1027276" cy="1027273"/>
          </a:xfrm>
          <a:prstGeom prst="rect">
            <a:avLst/>
          </a:prstGeom>
          <a:noFill/>
          <a:ln>
            <a:noFill/>
          </a:ln>
        </p:spPr>
      </p:pic>
      <p:pic>
        <p:nvPicPr>
          <p:cNvPr id="117" name="Google Shape;117;g1ec505ed67e_0_410"/>
          <p:cNvPicPr preferRelativeResize="0"/>
          <p:nvPr/>
        </p:nvPicPr>
        <p:blipFill rotWithShape="1">
          <a:blip r:embed="rId4">
            <a:alphaModFix/>
          </a:blip>
          <a:srcRect b="0" l="0" r="0" t="0"/>
          <a:stretch/>
        </p:blipFill>
        <p:spPr>
          <a:xfrm>
            <a:off x="1680654" y="2154548"/>
            <a:ext cx="1143418" cy="1143423"/>
          </a:xfrm>
          <a:prstGeom prst="rect">
            <a:avLst/>
          </a:prstGeom>
          <a:noFill/>
          <a:ln>
            <a:noFill/>
          </a:ln>
        </p:spPr>
      </p:pic>
      <p:pic>
        <p:nvPicPr>
          <p:cNvPr id="118" name="Google Shape;118;g1ec505ed67e_0_410"/>
          <p:cNvPicPr preferRelativeResize="0"/>
          <p:nvPr/>
        </p:nvPicPr>
        <p:blipFill rotWithShape="1">
          <a:blip r:embed="rId3">
            <a:alphaModFix/>
          </a:blip>
          <a:srcRect b="0" l="0" r="0" t="0"/>
          <a:stretch/>
        </p:blipFill>
        <p:spPr>
          <a:xfrm flipH="1">
            <a:off x="2945978" y="3217988"/>
            <a:ext cx="1027276" cy="1027273"/>
          </a:xfrm>
          <a:prstGeom prst="rect">
            <a:avLst/>
          </a:prstGeom>
          <a:noFill/>
          <a:ln>
            <a:noFill/>
          </a:ln>
        </p:spPr>
      </p:pic>
      <p:sp>
        <p:nvSpPr>
          <p:cNvPr id="119" name="Google Shape;119;g1ec505ed67e_0_410"/>
          <p:cNvSpPr txBox="1"/>
          <p:nvPr/>
        </p:nvSpPr>
        <p:spPr>
          <a:xfrm>
            <a:off x="330448" y="4267259"/>
            <a:ext cx="1680900" cy="4362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700"/>
              <a:buFont typeface="Arial"/>
              <a:buNone/>
            </a:pPr>
            <a:r>
              <a:rPr i="0" lang="en-BR" sz="2500" u="none" cap="none" strike="noStrike">
                <a:solidFill>
                  <a:srgbClr val="598E38"/>
                </a:solidFill>
              </a:rPr>
              <a:t>Fornecedor</a:t>
            </a:r>
            <a:endParaRPr i="0" sz="2000" u="none" cap="none" strike="noStrike">
              <a:solidFill>
                <a:srgbClr val="7D7D7D"/>
              </a:solidFill>
            </a:endParaRPr>
          </a:p>
        </p:txBody>
      </p:sp>
      <p:sp>
        <p:nvSpPr>
          <p:cNvPr id="120" name="Google Shape;120;g1ec505ed67e_0_410"/>
          <p:cNvSpPr txBox="1"/>
          <p:nvPr/>
        </p:nvSpPr>
        <p:spPr>
          <a:xfrm>
            <a:off x="2471806" y="4273929"/>
            <a:ext cx="1811700" cy="4206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600"/>
              <a:buFont typeface="Arial"/>
              <a:buNone/>
            </a:pPr>
            <a:r>
              <a:rPr i="0" lang="en-BR" sz="2400" u="none" cap="none" strike="noStrike">
                <a:solidFill>
                  <a:srgbClr val="598E38"/>
                </a:solidFill>
              </a:rPr>
              <a:t>Leroy Merlin</a:t>
            </a:r>
            <a:endParaRPr i="0" sz="1900" u="none" cap="none" strike="noStrike">
              <a:solidFill>
                <a:srgbClr val="7D7D7D"/>
              </a:solidFill>
            </a:endParaRPr>
          </a:p>
        </p:txBody>
      </p:sp>
      <p:cxnSp>
        <p:nvCxnSpPr>
          <p:cNvPr id="121" name="Google Shape;121;g1ec505ed67e_0_410"/>
          <p:cNvCxnSpPr>
            <a:stCxn id="116" idx="0"/>
            <a:endCxn id="117" idx="1"/>
          </p:cNvCxnSpPr>
          <p:nvPr/>
        </p:nvCxnSpPr>
        <p:spPr>
          <a:xfrm rot="-5400000">
            <a:off x="1148498" y="2682613"/>
            <a:ext cx="488400" cy="575700"/>
          </a:xfrm>
          <a:prstGeom prst="curvedConnector2">
            <a:avLst/>
          </a:prstGeom>
          <a:noFill/>
          <a:ln cap="flat" cmpd="sng" w="38100">
            <a:solidFill>
              <a:schemeClr val="accent6"/>
            </a:solidFill>
            <a:prstDash val="solid"/>
            <a:round/>
            <a:headEnd len="med" w="med" type="none"/>
            <a:tailEnd len="med" w="med" type="triangle"/>
          </a:ln>
        </p:spPr>
      </p:cxnSp>
      <p:cxnSp>
        <p:nvCxnSpPr>
          <p:cNvPr id="122" name="Google Shape;122;g1ec505ed67e_0_410"/>
          <p:cNvCxnSpPr>
            <a:stCxn id="117" idx="3"/>
            <a:endCxn id="118" idx="0"/>
          </p:cNvCxnSpPr>
          <p:nvPr/>
        </p:nvCxnSpPr>
        <p:spPr>
          <a:xfrm>
            <a:off x="2824072" y="2726260"/>
            <a:ext cx="635400" cy="491700"/>
          </a:xfrm>
          <a:prstGeom prst="curvedConnector2">
            <a:avLst/>
          </a:prstGeom>
          <a:noFill/>
          <a:ln cap="flat" cmpd="sng" w="38100">
            <a:solidFill>
              <a:schemeClr val="accent6"/>
            </a:solidFill>
            <a:prstDash val="solid"/>
            <a:round/>
            <a:headEnd len="med" w="med" type="none"/>
            <a:tailEnd len="med" w="med" type="triangle"/>
          </a:ln>
        </p:spPr>
      </p:cxnSp>
      <p:sp>
        <p:nvSpPr>
          <p:cNvPr id="123" name="Google Shape;123;g1ec505ed67e_0_410"/>
          <p:cNvSpPr txBox="1"/>
          <p:nvPr/>
        </p:nvSpPr>
        <p:spPr>
          <a:xfrm>
            <a:off x="4748725" y="2358676"/>
            <a:ext cx="6909900" cy="3653100"/>
          </a:xfrm>
          <a:prstGeom prst="rect">
            <a:avLst/>
          </a:prstGeom>
          <a:noFill/>
          <a:ln>
            <a:noFill/>
          </a:ln>
        </p:spPr>
        <p:txBody>
          <a:bodyPr anchorCtr="0" anchor="ctr" bIns="25400" lIns="25400" spcFirstLastPara="1" rIns="25400" wrap="square" tIns="25400">
            <a:spAutoFit/>
          </a:bodyPr>
          <a:lstStyle/>
          <a:p>
            <a:pPr indent="0" lvl="0" marL="0" marR="0" rtl="0" algn="l">
              <a:lnSpc>
                <a:spcPct val="150000"/>
              </a:lnSpc>
              <a:spcBef>
                <a:spcPts val="0"/>
              </a:spcBef>
              <a:spcAft>
                <a:spcPts val="0"/>
              </a:spcAft>
              <a:buClr>
                <a:srgbClr val="000000"/>
              </a:buClr>
              <a:buSzPts val="1600"/>
              <a:buFont typeface="Arial"/>
              <a:buNone/>
            </a:pPr>
            <a:r>
              <a:rPr lang="en-BR" sz="1800">
                <a:solidFill>
                  <a:srgbClr val="434343"/>
                </a:solidFill>
              </a:rPr>
              <a:t>Em busca de </a:t>
            </a:r>
            <a:r>
              <a:rPr b="1" lang="en-BR" sz="1800">
                <a:solidFill>
                  <a:srgbClr val="434343"/>
                </a:solidFill>
              </a:rPr>
              <a:t>automatizar </a:t>
            </a:r>
            <a:r>
              <a:rPr lang="en-BR" sz="1800">
                <a:solidFill>
                  <a:srgbClr val="434343"/>
                </a:solidFill>
              </a:rPr>
              <a:t>e </a:t>
            </a:r>
            <a:r>
              <a:rPr b="1" lang="en-BR" sz="1800">
                <a:solidFill>
                  <a:srgbClr val="434343"/>
                </a:solidFill>
              </a:rPr>
              <a:t>agilizar </a:t>
            </a:r>
            <a:r>
              <a:rPr lang="en-BR" sz="1800">
                <a:solidFill>
                  <a:srgbClr val="434343"/>
                </a:solidFill>
              </a:rPr>
              <a:t>a troca de informação entre </a:t>
            </a:r>
            <a:r>
              <a:rPr b="1" lang="en-BR" sz="1800">
                <a:solidFill>
                  <a:srgbClr val="434343"/>
                </a:solidFill>
              </a:rPr>
              <a:t>Fornecedor </a:t>
            </a:r>
            <a:r>
              <a:rPr lang="en-BR" sz="1800">
                <a:solidFill>
                  <a:srgbClr val="434343"/>
                </a:solidFill>
              </a:rPr>
              <a:t>e Leroy Merlin, </a:t>
            </a:r>
            <a:r>
              <a:rPr lang="en-BR" sz="1800">
                <a:solidFill>
                  <a:srgbClr val="434343"/>
                </a:solidFill>
              </a:rPr>
              <a:t>disponibilizamos</a:t>
            </a:r>
            <a:r>
              <a:rPr lang="en-BR" sz="1800">
                <a:solidFill>
                  <a:srgbClr val="434343"/>
                </a:solidFill>
              </a:rPr>
              <a:t> APIs para integração de </a:t>
            </a:r>
            <a:r>
              <a:rPr b="1" lang="en-BR" sz="1800">
                <a:solidFill>
                  <a:srgbClr val="434343"/>
                </a:solidFill>
              </a:rPr>
              <a:t>Estoque</a:t>
            </a:r>
            <a:r>
              <a:rPr lang="en-BR" sz="1800">
                <a:solidFill>
                  <a:srgbClr val="434343"/>
                </a:solidFill>
              </a:rPr>
              <a:t>, </a:t>
            </a:r>
            <a:r>
              <a:rPr b="1" lang="en-BR" sz="1800">
                <a:solidFill>
                  <a:srgbClr val="434343"/>
                </a:solidFill>
              </a:rPr>
              <a:t>Pedidos </a:t>
            </a:r>
            <a:r>
              <a:rPr lang="en-BR" sz="1800">
                <a:solidFill>
                  <a:srgbClr val="434343"/>
                </a:solidFill>
              </a:rPr>
              <a:t>e </a:t>
            </a:r>
            <a:r>
              <a:rPr b="1" lang="en-BR" sz="1800">
                <a:solidFill>
                  <a:srgbClr val="434343"/>
                </a:solidFill>
              </a:rPr>
              <a:t>Produtos</a:t>
            </a:r>
            <a:r>
              <a:rPr lang="en-BR" sz="1800">
                <a:solidFill>
                  <a:srgbClr val="434343"/>
                </a:solidFill>
              </a:rPr>
              <a:t>.</a:t>
            </a:r>
            <a:endParaRPr sz="1800">
              <a:solidFill>
                <a:srgbClr val="434343"/>
              </a:solidFill>
            </a:endParaRPr>
          </a:p>
          <a:p>
            <a:pPr indent="0" lvl="0" marL="0" marR="0" rtl="0" algn="l">
              <a:lnSpc>
                <a:spcPct val="150000"/>
              </a:lnSpc>
              <a:spcBef>
                <a:spcPts val="0"/>
              </a:spcBef>
              <a:spcAft>
                <a:spcPts val="0"/>
              </a:spcAft>
              <a:buClr>
                <a:srgbClr val="000000"/>
              </a:buClr>
              <a:buSzPts val="1600"/>
              <a:buFont typeface="Arial"/>
              <a:buNone/>
            </a:pPr>
            <a:br>
              <a:rPr lang="en-BR" sz="1800">
                <a:solidFill>
                  <a:srgbClr val="434343"/>
                </a:solidFill>
              </a:rPr>
            </a:br>
            <a:r>
              <a:rPr lang="en-BR" sz="1800">
                <a:solidFill>
                  <a:srgbClr val="434343"/>
                </a:solidFill>
              </a:rPr>
              <a:t>As APIs viabilizam que o Fornecedor integre as informações da Leroy Merlin ao seu sistema </a:t>
            </a:r>
            <a:r>
              <a:rPr lang="en-BR" sz="1800">
                <a:solidFill>
                  <a:srgbClr val="434343"/>
                </a:solidFill>
              </a:rPr>
              <a:t>próprio</a:t>
            </a:r>
            <a:r>
              <a:rPr lang="en-BR" sz="1800">
                <a:solidFill>
                  <a:srgbClr val="434343"/>
                </a:solidFill>
              </a:rPr>
              <a:t>, podendo unificar seu canal interno.</a:t>
            </a:r>
            <a:endParaRPr sz="1800">
              <a:solidFill>
                <a:srgbClr val="434343"/>
              </a:solidFill>
            </a:endParaRPr>
          </a:p>
          <a:p>
            <a:pPr indent="0" lvl="0" marL="0" rtl="0" algn="l">
              <a:lnSpc>
                <a:spcPct val="150000"/>
              </a:lnSpc>
              <a:spcBef>
                <a:spcPts val="0"/>
              </a:spcBef>
              <a:spcAft>
                <a:spcPts val="0"/>
              </a:spcAft>
              <a:buClr>
                <a:schemeClr val="dk1"/>
              </a:buClr>
              <a:buSzPts val="1600"/>
              <a:buFont typeface="Arial"/>
              <a:buNone/>
            </a:pPr>
            <a:r>
              <a:t/>
            </a:r>
            <a:endParaRPr sz="1800">
              <a:solidFill>
                <a:srgbClr val="434343"/>
              </a:solidFill>
              <a:latin typeface="Helvetica Neue"/>
              <a:ea typeface="Helvetica Neue"/>
              <a:cs typeface="Helvetica Neue"/>
              <a:sym typeface="Helvetica Neue"/>
            </a:endParaRPr>
          </a:p>
          <a:p>
            <a:pPr indent="0" lvl="0" marL="0" marR="0" rtl="0" algn="l">
              <a:lnSpc>
                <a:spcPct val="150000"/>
              </a:lnSpc>
              <a:spcBef>
                <a:spcPts val="0"/>
              </a:spcBef>
              <a:spcAft>
                <a:spcPts val="0"/>
              </a:spcAft>
              <a:buClr>
                <a:srgbClr val="000000"/>
              </a:buClr>
              <a:buSzPts val="1600"/>
              <a:buFont typeface="Arial"/>
              <a:buNone/>
            </a:pPr>
            <a:r>
              <a:t/>
            </a:r>
            <a:endParaRPr sz="1800">
              <a:solidFill>
                <a:srgbClr val="434343"/>
              </a:solidFill>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1ec505ed67e_0_635"/>
          <p:cNvSpPr txBox="1"/>
          <p:nvPr/>
        </p:nvSpPr>
        <p:spPr>
          <a:xfrm>
            <a:off x="1558219" y="530950"/>
            <a:ext cx="1965600" cy="519300"/>
          </a:xfrm>
          <a:prstGeom prst="rect">
            <a:avLst/>
          </a:prstGeom>
          <a:noFill/>
          <a:ln>
            <a:noFill/>
          </a:ln>
        </p:spPr>
        <p:txBody>
          <a:bodyPr anchorCtr="0" anchor="ctr" bIns="25400" lIns="25400" spcFirstLastPara="1" rIns="25400" wrap="square" tIns="25400">
            <a:spAutoFit/>
          </a:bodyPr>
          <a:lstStyle/>
          <a:p>
            <a:pPr indent="114300" lvl="1" marL="0" marR="0" rtl="0" algn="l">
              <a:lnSpc>
                <a:spcPct val="80000"/>
              </a:lnSpc>
              <a:spcBef>
                <a:spcPts val="0"/>
              </a:spcBef>
              <a:spcAft>
                <a:spcPts val="0"/>
              </a:spcAft>
              <a:buClr>
                <a:srgbClr val="000000"/>
              </a:buClr>
              <a:buSzPts val="4000"/>
              <a:buFont typeface="Arial"/>
              <a:buNone/>
            </a:pPr>
            <a:r>
              <a:rPr b="1" lang="en-BR" sz="3800">
                <a:solidFill>
                  <a:srgbClr val="9F9F9F"/>
                </a:solidFill>
              </a:rPr>
              <a:t>Própria</a:t>
            </a:r>
            <a:endParaRPr b="1" i="0" sz="3800" u="none" cap="none" strike="noStrike">
              <a:solidFill>
                <a:srgbClr val="9F9F9F"/>
              </a:solidFill>
              <a:latin typeface="Arial"/>
              <a:ea typeface="Arial"/>
              <a:cs typeface="Arial"/>
              <a:sym typeface="Arial"/>
            </a:endParaRPr>
          </a:p>
        </p:txBody>
      </p:sp>
      <p:pic>
        <p:nvPicPr>
          <p:cNvPr id="129" name="Google Shape;129;g1ec505ed67e_0_635"/>
          <p:cNvPicPr preferRelativeResize="0"/>
          <p:nvPr/>
        </p:nvPicPr>
        <p:blipFill rotWithShape="1">
          <a:blip r:embed="rId3">
            <a:alphaModFix/>
          </a:blip>
          <a:srcRect b="0" l="0" r="0" t="0"/>
          <a:stretch/>
        </p:blipFill>
        <p:spPr>
          <a:xfrm>
            <a:off x="894275" y="2109908"/>
            <a:ext cx="734619" cy="734615"/>
          </a:xfrm>
          <a:prstGeom prst="rect">
            <a:avLst/>
          </a:prstGeom>
          <a:noFill/>
          <a:ln>
            <a:noFill/>
          </a:ln>
        </p:spPr>
      </p:pic>
      <p:pic>
        <p:nvPicPr>
          <p:cNvPr id="130" name="Google Shape;130;g1ec505ed67e_0_635"/>
          <p:cNvPicPr preferRelativeResize="0"/>
          <p:nvPr/>
        </p:nvPicPr>
        <p:blipFill rotWithShape="1">
          <a:blip r:embed="rId4">
            <a:alphaModFix/>
          </a:blip>
          <a:srcRect b="0" l="0" r="0" t="0"/>
          <a:stretch/>
        </p:blipFill>
        <p:spPr>
          <a:xfrm>
            <a:off x="2132183" y="1304931"/>
            <a:ext cx="817673" cy="817676"/>
          </a:xfrm>
          <a:prstGeom prst="rect">
            <a:avLst/>
          </a:prstGeom>
          <a:noFill/>
          <a:ln>
            <a:noFill/>
          </a:ln>
        </p:spPr>
      </p:pic>
      <p:pic>
        <p:nvPicPr>
          <p:cNvPr id="131" name="Google Shape;131;g1ec505ed67e_0_635"/>
          <p:cNvPicPr preferRelativeResize="0"/>
          <p:nvPr/>
        </p:nvPicPr>
        <p:blipFill rotWithShape="1">
          <a:blip r:embed="rId3">
            <a:alphaModFix/>
          </a:blip>
          <a:srcRect b="0" l="0" r="0" t="0"/>
          <a:stretch/>
        </p:blipFill>
        <p:spPr>
          <a:xfrm flipH="1">
            <a:off x="3268156" y="2109908"/>
            <a:ext cx="734619" cy="734615"/>
          </a:xfrm>
          <a:prstGeom prst="rect">
            <a:avLst/>
          </a:prstGeom>
          <a:noFill/>
          <a:ln>
            <a:noFill/>
          </a:ln>
        </p:spPr>
      </p:pic>
      <p:sp>
        <p:nvSpPr>
          <p:cNvPr id="132" name="Google Shape;132;g1ec505ed67e_0_635"/>
          <p:cNvSpPr txBox="1"/>
          <p:nvPr/>
        </p:nvSpPr>
        <p:spPr>
          <a:xfrm>
            <a:off x="278763" y="2913538"/>
            <a:ext cx="1965600" cy="3591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700"/>
              <a:buFont typeface="Arial"/>
              <a:buNone/>
            </a:pPr>
            <a:r>
              <a:rPr i="0" lang="en-BR" sz="2000" u="none" cap="none" strike="noStrike">
                <a:solidFill>
                  <a:srgbClr val="598E38"/>
                </a:solidFill>
              </a:rPr>
              <a:t>Fornecedor</a:t>
            </a:r>
            <a:endParaRPr i="0" sz="1500" u="none" cap="none" strike="noStrike">
              <a:solidFill>
                <a:srgbClr val="7D7D7D"/>
              </a:solidFill>
            </a:endParaRPr>
          </a:p>
        </p:txBody>
      </p:sp>
      <p:sp>
        <p:nvSpPr>
          <p:cNvPr id="133" name="Google Shape;133;g1ec505ed67e_0_635"/>
          <p:cNvSpPr txBox="1"/>
          <p:nvPr/>
        </p:nvSpPr>
        <p:spPr>
          <a:xfrm>
            <a:off x="2576163" y="2935088"/>
            <a:ext cx="2118600" cy="3438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600"/>
              <a:buFont typeface="Arial"/>
              <a:buNone/>
            </a:pPr>
            <a:r>
              <a:rPr i="0" lang="en-BR" sz="1900" u="none" cap="none" strike="noStrike">
                <a:solidFill>
                  <a:srgbClr val="598E38"/>
                </a:solidFill>
              </a:rPr>
              <a:t>Leroy Merlin</a:t>
            </a:r>
            <a:endParaRPr i="0" sz="1400" u="none" cap="none" strike="noStrike">
              <a:solidFill>
                <a:srgbClr val="7D7D7D"/>
              </a:solidFill>
            </a:endParaRPr>
          </a:p>
        </p:txBody>
      </p:sp>
      <p:cxnSp>
        <p:nvCxnSpPr>
          <p:cNvPr id="134" name="Google Shape;134;g1ec505ed67e_0_635"/>
          <p:cNvCxnSpPr>
            <a:stCxn id="129" idx="0"/>
            <a:endCxn id="130" idx="1"/>
          </p:cNvCxnSpPr>
          <p:nvPr/>
        </p:nvCxnSpPr>
        <p:spPr>
          <a:xfrm rot="-5400000">
            <a:off x="1498884" y="1476608"/>
            <a:ext cx="396000" cy="870600"/>
          </a:xfrm>
          <a:prstGeom prst="curvedConnector2">
            <a:avLst/>
          </a:prstGeom>
          <a:noFill/>
          <a:ln cap="flat" cmpd="sng" w="28575">
            <a:solidFill>
              <a:srgbClr val="598E38"/>
            </a:solidFill>
            <a:prstDash val="solid"/>
            <a:round/>
            <a:headEnd len="med" w="med" type="triangle"/>
            <a:tailEnd len="med" w="med" type="triangle"/>
          </a:ln>
        </p:spPr>
      </p:cxnSp>
      <p:cxnSp>
        <p:nvCxnSpPr>
          <p:cNvPr id="135" name="Google Shape;135;g1ec505ed67e_0_635"/>
          <p:cNvCxnSpPr>
            <a:stCxn id="130" idx="3"/>
            <a:endCxn id="131" idx="0"/>
          </p:cNvCxnSpPr>
          <p:nvPr/>
        </p:nvCxnSpPr>
        <p:spPr>
          <a:xfrm>
            <a:off x="2949856" y="1713769"/>
            <a:ext cx="685500" cy="396000"/>
          </a:xfrm>
          <a:prstGeom prst="curvedConnector2">
            <a:avLst/>
          </a:prstGeom>
          <a:noFill/>
          <a:ln cap="flat" cmpd="sng" w="28575">
            <a:solidFill>
              <a:srgbClr val="598E38"/>
            </a:solidFill>
            <a:prstDash val="solid"/>
            <a:round/>
            <a:headEnd len="med" w="med" type="triangle"/>
            <a:tailEnd len="med" w="med" type="triangle"/>
          </a:ln>
        </p:spPr>
      </p:cxnSp>
      <p:sp>
        <p:nvSpPr>
          <p:cNvPr id="136" name="Google Shape;136;g1ec505ed67e_0_635"/>
          <p:cNvSpPr txBox="1"/>
          <p:nvPr/>
        </p:nvSpPr>
        <p:spPr>
          <a:xfrm>
            <a:off x="702169" y="3445650"/>
            <a:ext cx="3677700" cy="1452000"/>
          </a:xfrm>
          <a:prstGeom prst="rect">
            <a:avLst/>
          </a:prstGeom>
          <a:noFill/>
          <a:ln>
            <a:noFill/>
          </a:ln>
        </p:spPr>
        <p:txBody>
          <a:bodyPr anchorCtr="0" anchor="ctr" bIns="25400" lIns="25400" spcFirstLastPara="1" rIns="25400" wrap="square" tIns="25400">
            <a:spAutoFit/>
          </a:bodyPr>
          <a:lstStyle/>
          <a:p>
            <a:pPr indent="0" lvl="0" marL="0" marR="0" rtl="0" algn="ctr">
              <a:lnSpc>
                <a:spcPct val="150000"/>
              </a:lnSpc>
              <a:spcBef>
                <a:spcPts val="0"/>
              </a:spcBef>
              <a:spcAft>
                <a:spcPts val="0"/>
              </a:spcAft>
              <a:buClr>
                <a:srgbClr val="000000"/>
              </a:buClr>
              <a:buSzPts val="1600"/>
              <a:buFont typeface="Arial"/>
              <a:buNone/>
            </a:pPr>
            <a:r>
              <a:rPr lang="en-BR" sz="1300">
                <a:solidFill>
                  <a:srgbClr val="434343"/>
                </a:solidFill>
              </a:rPr>
              <a:t>O fornecedor desenvolve a interação via API com seu time de desenvolvedores.</a:t>
            </a:r>
            <a:endParaRPr sz="1300">
              <a:solidFill>
                <a:srgbClr val="434343"/>
              </a:solidFill>
            </a:endParaRPr>
          </a:p>
          <a:p>
            <a:pPr indent="0" lvl="0" marL="0" marR="0" rtl="0" algn="ctr">
              <a:lnSpc>
                <a:spcPct val="150000"/>
              </a:lnSpc>
              <a:spcBef>
                <a:spcPts val="0"/>
              </a:spcBef>
              <a:spcAft>
                <a:spcPts val="0"/>
              </a:spcAft>
              <a:buClr>
                <a:srgbClr val="000000"/>
              </a:buClr>
              <a:buSzPts val="1600"/>
              <a:buFont typeface="Arial"/>
              <a:buNone/>
            </a:pPr>
            <a:r>
              <a:t/>
            </a:r>
            <a:endParaRPr sz="1300">
              <a:solidFill>
                <a:srgbClr val="434343"/>
              </a:solidFill>
            </a:endParaRPr>
          </a:p>
          <a:p>
            <a:pPr indent="0" lvl="0" marL="0" marR="0" rtl="0" algn="ctr">
              <a:lnSpc>
                <a:spcPct val="150000"/>
              </a:lnSpc>
              <a:spcBef>
                <a:spcPts val="0"/>
              </a:spcBef>
              <a:spcAft>
                <a:spcPts val="0"/>
              </a:spcAft>
              <a:buClr>
                <a:srgbClr val="000000"/>
              </a:buClr>
              <a:buSzPts val="1600"/>
              <a:buFont typeface="Arial"/>
              <a:buNone/>
            </a:pPr>
            <a:r>
              <a:rPr lang="en-BR" sz="1300">
                <a:solidFill>
                  <a:srgbClr val="434343"/>
                </a:solidFill>
              </a:rPr>
              <a:t>É necessário possuir um Time técnico com experiência no assunto.</a:t>
            </a:r>
            <a:endParaRPr sz="1300">
              <a:solidFill>
                <a:srgbClr val="434343"/>
              </a:solidFill>
            </a:endParaRPr>
          </a:p>
        </p:txBody>
      </p:sp>
      <p:sp>
        <p:nvSpPr>
          <p:cNvPr id="137" name="Google Shape;137;g1ec505ed67e_0_635"/>
          <p:cNvSpPr txBox="1"/>
          <p:nvPr/>
        </p:nvSpPr>
        <p:spPr>
          <a:xfrm>
            <a:off x="7360875" y="530950"/>
            <a:ext cx="3677700" cy="519300"/>
          </a:xfrm>
          <a:prstGeom prst="rect">
            <a:avLst/>
          </a:prstGeom>
          <a:noFill/>
          <a:ln>
            <a:noFill/>
          </a:ln>
        </p:spPr>
        <p:txBody>
          <a:bodyPr anchorCtr="0" anchor="ctr" bIns="25400" lIns="25400" spcFirstLastPara="1" rIns="25400" wrap="square" tIns="25400">
            <a:spAutoFit/>
          </a:bodyPr>
          <a:lstStyle/>
          <a:p>
            <a:pPr indent="114300" lvl="1" marL="0" marR="0" rtl="0" algn="l">
              <a:lnSpc>
                <a:spcPct val="80000"/>
              </a:lnSpc>
              <a:spcBef>
                <a:spcPts val="0"/>
              </a:spcBef>
              <a:spcAft>
                <a:spcPts val="0"/>
              </a:spcAft>
              <a:buClr>
                <a:srgbClr val="000000"/>
              </a:buClr>
              <a:buSzPts val="4000"/>
              <a:buFont typeface="Arial"/>
              <a:buNone/>
            </a:pPr>
            <a:r>
              <a:rPr b="1" lang="en-BR" sz="3800">
                <a:solidFill>
                  <a:srgbClr val="9F9F9F"/>
                </a:solidFill>
              </a:rPr>
              <a:t>Via Integradora</a:t>
            </a:r>
            <a:endParaRPr b="1" i="0" sz="3800" u="none" cap="none" strike="noStrike">
              <a:solidFill>
                <a:srgbClr val="9F9F9F"/>
              </a:solidFill>
              <a:latin typeface="Arial"/>
              <a:ea typeface="Arial"/>
              <a:cs typeface="Arial"/>
              <a:sym typeface="Arial"/>
            </a:endParaRPr>
          </a:p>
        </p:txBody>
      </p:sp>
      <p:pic>
        <p:nvPicPr>
          <p:cNvPr id="138" name="Google Shape;138;g1ec505ed67e_0_635"/>
          <p:cNvPicPr preferRelativeResize="0"/>
          <p:nvPr/>
        </p:nvPicPr>
        <p:blipFill>
          <a:blip r:embed="rId5">
            <a:alphaModFix/>
          </a:blip>
          <a:stretch>
            <a:fillRect/>
          </a:stretch>
        </p:blipFill>
        <p:spPr>
          <a:xfrm>
            <a:off x="6752053" y="2249225"/>
            <a:ext cx="630300" cy="630300"/>
          </a:xfrm>
          <a:prstGeom prst="rect">
            <a:avLst/>
          </a:prstGeom>
          <a:noFill/>
          <a:ln>
            <a:noFill/>
          </a:ln>
        </p:spPr>
      </p:pic>
      <p:pic>
        <p:nvPicPr>
          <p:cNvPr id="139" name="Google Shape;139;g1ec505ed67e_0_635"/>
          <p:cNvPicPr preferRelativeResize="0"/>
          <p:nvPr/>
        </p:nvPicPr>
        <p:blipFill rotWithShape="1">
          <a:blip r:embed="rId3">
            <a:alphaModFix/>
          </a:blip>
          <a:srcRect b="0" l="0" r="0" t="0"/>
          <a:stretch/>
        </p:blipFill>
        <p:spPr>
          <a:xfrm>
            <a:off x="7988762" y="1346458"/>
            <a:ext cx="734619" cy="734615"/>
          </a:xfrm>
          <a:prstGeom prst="rect">
            <a:avLst/>
          </a:prstGeom>
          <a:noFill/>
          <a:ln>
            <a:noFill/>
          </a:ln>
        </p:spPr>
      </p:pic>
      <p:pic>
        <p:nvPicPr>
          <p:cNvPr id="140" name="Google Shape;140;g1ec505ed67e_0_635"/>
          <p:cNvPicPr preferRelativeResize="0"/>
          <p:nvPr/>
        </p:nvPicPr>
        <p:blipFill rotWithShape="1">
          <a:blip r:embed="rId4">
            <a:alphaModFix/>
          </a:blip>
          <a:srcRect b="0" l="0" r="0" t="0"/>
          <a:stretch/>
        </p:blipFill>
        <p:spPr>
          <a:xfrm>
            <a:off x="9438533" y="1304931"/>
            <a:ext cx="817673" cy="817676"/>
          </a:xfrm>
          <a:prstGeom prst="rect">
            <a:avLst/>
          </a:prstGeom>
          <a:noFill/>
          <a:ln>
            <a:noFill/>
          </a:ln>
        </p:spPr>
      </p:pic>
      <p:pic>
        <p:nvPicPr>
          <p:cNvPr id="141" name="Google Shape;141;g1ec505ed67e_0_635"/>
          <p:cNvPicPr preferRelativeResize="0"/>
          <p:nvPr/>
        </p:nvPicPr>
        <p:blipFill rotWithShape="1">
          <a:blip r:embed="rId3">
            <a:alphaModFix/>
          </a:blip>
          <a:srcRect b="0" l="0" r="0" t="0"/>
          <a:stretch/>
        </p:blipFill>
        <p:spPr>
          <a:xfrm flipH="1">
            <a:off x="10600969" y="2109908"/>
            <a:ext cx="734619" cy="734615"/>
          </a:xfrm>
          <a:prstGeom prst="rect">
            <a:avLst/>
          </a:prstGeom>
          <a:noFill/>
          <a:ln>
            <a:noFill/>
          </a:ln>
        </p:spPr>
      </p:pic>
      <p:sp>
        <p:nvSpPr>
          <p:cNvPr id="142" name="Google Shape;142;g1ec505ed67e_0_635"/>
          <p:cNvSpPr txBox="1"/>
          <p:nvPr/>
        </p:nvSpPr>
        <p:spPr>
          <a:xfrm>
            <a:off x="6125763" y="2913538"/>
            <a:ext cx="1965600" cy="3591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700"/>
              <a:buFont typeface="Arial"/>
              <a:buNone/>
            </a:pPr>
            <a:r>
              <a:rPr i="0" lang="en-BR" sz="2000" u="none" cap="none" strike="noStrike">
                <a:solidFill>
                  <a:srgbClr val="598E38"/>
                </a:solidFill>
              </a:rPr>
              <a:t>Fornecedor</a:t>
            </a:r>
            <a:endParaRPr i="0" sz="1500" u="none" cap="none" strike="noStrike">
              <a:solidFill>
                <a:srgbClr val="7D7D7D"/>
              </a:solidFill>
            </a:endParaRPr>
          </a:p>
        </p:txBody>
      </p:sp>
      <p:sp>
        <p:nvSpPr>
          <p:cNvPr id="143" name="Google Shape;143;g1ec505ed67e_0_635"/>
          <p:cNvSpPr txBox="1"/>
          <p:nvPr/>
        </p:nvSpPr>
        <p:spPr>
          <a:xfrm>
            <a:off x="9908975" y="2935088"/>
            <a:ext cx="2118600" cy="3438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600"/>
              <a:buFont typeface="Arial"/>
              <a:buNone/>
            </a:pPr>
            <a:r>
              <a:rPr i="0" lang="en-BR" sz="1900" u="none" cap="none" strike="noStrike">
                <a:solidFill>
                  <a:srgbClr val="598E38"/>
                </a:solidFill>
              </a:rPr>
              <a:t>Leroy Merlin</a:t>
            </a:r>
            <a:endParaRPr i="0" sz="1400" u="none" cap="none" strike="noStrike">
              <a:solidFill>
                <a:srgbClr val="7D7D7D"/>
              </a:solidFill>
            </a:endParaRPr>
          </a:p>
        </p:txBody>
      </p:sp>
      <p:cxnSp>
        <p:nvCxnSpPr>
          <p:cNvPr id="144" name="Google Shape;144;g1ec505ed67e_0_635"/>
          <p:cNvCxnSpPr>
            <a:stCxn id="139" idx="3"/>
            <a:endCxn id="140" idx="1"/>
          </p:cNvCxnSpPr>
          <p:nvPr/>
        </p:nvCxnSpPr>
        <p:spPr>
          <a:xfrm>
            <a:off x="8723381" y="1713765"/>
            <a:ext cx="715200" cy="600"/>
          </a:xfrm>
          <a:prstGeom prst="curvedConnector3">
            <a:avLst>
              <a:gd fmla="val 49997" name="adj1"/>
            </a:avLst>
          </a:prstGeom>
          <a:noFill/>
          <a:ln cap="flat" cmpd="sng" w="28575">
            <a:solidFill>
              <a:srgbClr val="598E38"/>
            </a:solidFill>
            <a:prstDash val="solid"/>
            <a:round/>
            <a:headEnd len="med" w="med" type="triangle"/>
            <a:tailEnd len="med" w="med" type="triangle"/>
          </a:ln>
        </p:spPr>
      </p:cxnSp>
      <p:cxnSp>
        <p:nvCxnSpPr>
          <p:cNvPr id="145" name="Google Shape;145;g1ec505ed67e_0_635"/>
          <p:cNvCxnSpPr>
            <a:stCxn id="140" idx="3"/>
            <a:endCxn id="141" idx="0"/>
          </p:cNvCxnSpPr>
          <p:nvPr/>
        </p:nvCxnSpPr>
        <p:spPr>
          <a:xfrm>
            <a:off x="10256206" y="1713769"/>
            <a:ext cx="712200" cy="396000"/>
          </a:xfrm>
          <a:prstGeom prst="curvedConnector2">
            <a:avLst/>
          </a:prstGeom>
          <a:noFill/>
          <a:ln cap="flat" cmpd="sng" w="28575">
            <a:solidFill>
              <a:srgbClr val="598E38"/>
            </a:solidFill>
            <a:prstDash val="solid"/>
            <a:round/>
            <a:headEnd len="med" w="med" type="triangle"/>
            <a:tailEnd len="med" w="med" type="triangle"/>
          </a:ln>
        </p:spPr>
      </p:cxnSp>
      <p:cxnSp>
        <p:nvCxnSpPr>
          <p:cNvPr id="146" name="Google Shape;146;g1ec505ed67e_0_635"/>
          <p:cNvCxnSpPr>
            <a:stCxn id="138" idx="0"/>
            <a:endCxn id="139" idx="1"/>
          </p:cNvCxnSpPr>
          <p:nvPr/>
        </p:nvCxnSpPr>
        <p:spPr>
          <a:xfrm rot="-5400000">
            <a:off x="7260253" y="1520675"/>
            <a:ext cx="535500" cy="921600"/>
          </a:xfrm>
          <a:prstGeom prst="curvedConnector2">
            <a:avLst/>
          </a:prstGeom>
          <a:noFill/>
          <a:ln cap="flat" cmpd="sng" w="28575">
            <a:solidFill>
              <a:srgbClr val="598E38"/>
            </a:solidFill>
            <a:prstDash val="solid"/>
            <a:round/>
            <a:headEnd len="med" w="med" type="triangle"/>
            <a:tailEnd len="med" w="med" type="triangle"/>
          </a:ln>
        </p:spPr>
      </p:cxnSp>
      <p:sp>
        <p:nvSpPr>
          <p:cNvPr id="147" name="Google Shape;147;g1ec505ed67e_0_635"/>
          <p:cNvSpPr txBox="1"/>
          <p:nvPr/>
        </p:nvSpPr>
        <p:spPr>
          <a:xfrm>
            <a:off x="6725775" y="3445650"/>
            <a:ext cx="4947900" cy="3853200"/>
          </a:xfrm>
          <a:prstGeom prst="rect">
            <a:avLst/>
          </a:prstGeom>
          <a:noFill/>
          <a:ln>
            <a:noFill/>
          </a:ln>
        </p:spPr>
        <p:txBody>
          <a:bodyPr anchorCtr="0" anchor="ctr" bIns="25400" lIns="25400" spcFirstLastPara="1" rIns="25400" wrap="square" tIns="25400">
            <a:spAutoFit/>
          </a:bodyPr>
          <a:lstStyle/>
          <a:p>
            <a:pPr indent="0" lvl="0" marL="0" marR="0" rtl="0" algn="ctr">
              <a:lnSpc>
                <a:spcPct val="150000"/>
              </a:lnSpc>
              <a:spcBef>
                <a:spcPts val="0"/>
              </a:spcBef>
              <a:spcAft>
                <a:spcPts val="0"/>
              </a:spcAft>
              <a:buClr>
                <a:srgbClr val="000000"/>
              </a:buClr>
              <a:buSzPts val="1600"/>
              <a:buFont typeface="Arial"/>
              <a:buNone/>
            </a:pPr>
            <a:r>
              <a:rPr lang="en-BR" sz="1300">
                <a:solidFill>
                  <a:srgbClr val="434343"/>
                </a:solidFill>
              </a:rPr>
              <a:t>O fornecedor contrata uma Integradora de sistemas para transmitir as informações, facilitando a rotina para os fornecedores e eliminando a necessidade de desenvolvimento interno. </a:t>
            </a:r>
            <a:br>
              <a:rPr lang="en-BR" sz="1300">
                <a:solidFill>
                  <a:srgbClr val="434343"/>
                </a:solidFill>
              </a:rPr>
            </a:br>
            <a:br>
              <a:rPr lang="en-BR" sz="1300">
                <a:solidFill>
                  <a:srgbClr val="434343"/>
                </a:solidFill>
              </a:rPr>
            </a:br>
            <a:r>
              <a:rPr lang="en-BR" sz="1300">
                <a:solidFill>
                  <a:srgbClr val="333333"/>
                </a:solidFill>
              </a:rPr>
              <a:t>Através da integradora existem dois processos: automatizar o envio de uma planilha ou subir de forma manual. Assim a integradora envia a informação para nossa API de estoque, disponibilizando o produto para todas as Lojas e ecommerce.</a:t>
            </a:r>
            <a:br>
              <a:rPr lang="en-BR" sz="1300">
                <a:solidFill>
                  <a:srgbClr val="333333"/>
                </a:solidFill>
              </a:rPr>
            </a:br>
            <a:br>
              <a:rPr lang="en-BR" sz="1300">
                <a:solidFill>
                  <a:srgbClr val="333333"/>
                </a:solidFill>
              </a:rPr>
            </a:br>
            <a:r>
              <a:rPr lang="en-BR" sz="1300">
                <a:solidFill>
                  <a:srgbClr val="333333"/>
                </a:solidFill>
              </a:rPr>
              <a:t>Integradoras que já fazem esse processo para nosso Fornecedores: Única e Business Integrator</a:t>
            </a:r>
            <a:endParaRPr sz="1300">
              <a:solidFill>
                <a:srgbClr val="333333"/>
              </a:solidFill>
            </a:endParaRPr>
          </a:p>
          <a:p>
            <a:pPr indent="0" lvl="0" marL="0" rtl="0" algn="ctr">
              <a:lnSpc>
                <a:spcPct val="150000"/>
              </a:lnSpc>
              <a:spcBef>
                <a:spcPts val="0"/>
              </a:spcBef>
              <a:spcAft>
                <a:spcPts val="0"/>
              </a:spcAft>
              <a:buClr>
                <a:schemeClr val="dk1"/>
              </a:buClr>
              <a:buSzPts val="600"/>
              <a:buFont typeface="Arial"/>
              <a:buNone/>
            </a:pPr>
            <a:r>
              <a:t/>
            </a:r>
            <a:endParaRPr sz="1300">
              <a:solidFill>
                <a:srgbClr val="333333"/>
              </a:solidFill>
            </a:endParaRPr>
          </a:p>
          <a:p>
            <a:pPr indent="0" lvl="0" marL="0" marR="0" rtl="0" algn="ctr">
              <a:lnSpc>
                <a:spcPct val="150000"/>
              </a:lnSpc>
              <a:spcBef>
                <a:spcPts val="0"/>
              </a:spcBef>
              <a:spcAft>
                <a:spcPts val="0"/>
              </a:spcAft>
              <a:buClr>
                <a:srgbClr val="000000"/>
              </a:buClr>
              <a:buSzPts val="1600"/>
              <a:buFont typeface="Arial"/>
              <a:buNone/>
            </a:pPr>
            <a:r>
              <a:t/>
            </a:r>
            <a:endParaRPr sz="1300">
              <a:solidFill>
                <a:srgbClr val="333333"/>
              </a:solidFill>
            </a:endParaRPr>
          </a:p>
        </p:txBody>
      </p:sp>
      <p:sp>
        <p:nvSpPr>
          <p:cNvPr id="148" name="Google Shape;148;g1ec505ed67e_0_635"/>
          <p:cNvSpPr txBox="1"/>
          <p:nvPr/>
        </p:nvSpPr>
        <p:spPr>
          <a:xfrm>
            <a:off x="-2183475" y="6579837"/>
            <a:ext cx="5346300" cy="251400"/>
          </a:xfrm>
          <a:prstGeom prst="rect">
            <a:avLst/>
          </a:prstGeom>
          <a:noFill/>
          <a:ln>
            <a:noFill/>
          </a:ln>
        </p:spPr>
        <p:txBody>
          <a:bodyPr anchorCtr="0" anchor="ctr" bIns="25400" lIns="25400" spcFirstLastPara="1" rIns="25400" wrap="square" tIns="25400">
            <a:spAutoFit/>
          </a:bodyPr>
          <a:lstStyle/>
          <a:p>
            <a:pPr indent="0" lvl="0" marL="0" marR="0" rtl="0" algn="l">
              <a:lnSpc>
                <a:spcPct val="150000"/>
              </a:lnSpc>
              <a:spcBef>
                <a:spcPts val="0"/>
              </a:spcBef>
              <a:spcAft>
                <a:spcPts val="0"/>
              </a:spcAft>
              <a:buClr>
                <a:srgbClr val="000000"/>
              </a:buClr>
              <a:buSzPts val="1500"/>
              <a:buFont typeface="Arial"/>
              <a:buNone/>
            </a:pPr>
            <a:r>
              <a:t/>
            </a:r>
            <a:endParaRPr b="0" i="0" sz="1300" u="none" cap="none" strike="noStrike">
              <a:solidFill>
                <a:srgbClr val="000000"/>
              </a:solidFill>
              <a:latin typeface="Helvetica Neue"/>
              <a:ea typeface="Helvetica Neue"/>
              <a:cs typeface="Helvetica Neue"/>
              <a:sym typeface="Helvetica Neue"/>
            </a:endParaRPr>
          </a:p>
        </p:txBody>
      </p:sp>
      <p:sp>
        <p:nvSpPr>
          <p:cNvPr id="149" name="Google Shape;149;g1ec505ed67e_0_635"/>
          <p:cNvSpPr txBox="1"/>
          <p:nvPr/>
        </p:nvSpPr>
        <p:spPr>
          <a:xfrm>
            <a:off x="7277738" y="2081075"/>
            <a:ext cx="1965600" cy="359100"/>
          </a:xfrm>
          <a:prstGeom prst="rect">
            <a:avLst/>
          </a:prstGeom>
          <a:noFill/>
          <a:ln>
            <a:noFill/>
          </a:ln>
        </p:spPr>
        <p:txBody>
          <a:bodyPr anchorCtr="0" anchor="ctr" bIns="25400" lIns="25400" spcFirstLastPara="1" rIns="25400" wrap="square" tIns="25400">
            <a:spAutoFit/>
          </a:bodyPr>
          <a:lstStyle/>
          <a:p>
            <a:pPr indent="0" lvl="0" marL="0" marR="0" rtl="0" algn="ctr">
              <a:lnSpc>
                <a:spcPct val="115000"/>
              </a:lnSpc>
              <a:spcBef>
                <a:spcPts val="0"/>
              </a:spcBef>
              <a:spcAft>
                <a:spcPts val="0"/>
              </a:spcAft>
              <a:buClr>
                <a:srgbClr val="000000"/>
              </a:buClr>
              <a:buSzPts val="2700"/>
              <a:buFont typeface="Arial"/>
              <a:buNone/>
            </a:pPr>
            <a:r>
              <a:rPr lang="en-BR" sz="2000">
                <a:solidFill>
                  <a:srgbClr val="598E38"/>
                </a:solidFill>
              </a:rPr>
              <a:t>Integradora</a:t>
            </a:r>
            <a:endParaRPr i="0" sz="1500" u="none" cap="none" strike="noStrike">
              <a:solidFill>
                <a:srgbClr val="7D7D7D"/>
              </a:solidFill>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2BF44"/>
        </a:solidFill>
      </p:bgPr>
    </p:bg>
    <p:spTree>
      <p:nvGrpSpPr>
        <p:cNvPr id="153" name="Shape 153"/>
        <p:cNvGrpSpPr/>
        <p:nvPr/>
      </p:nvGrpSpPr>
      <p:grpSpPr>
        <a:xfrm>
          <a:off x="0" y="0"/>
          <a:ext cx="0" cy="0"/>
          <a:chOff x="0" y="0"/>
          <a:chExt cx="0" cy="0"/>
        </a:xfrm>
      </p:grpSpPr>
      <p:sp>
        <p:nvSpPr>
          <p:cNvPr id="154" name="Google Shape;154;g1ec505ed67e_0_487"/>
          <p:cNvSpPr txBox="1"/>
          <p:nvPr/>
        </p:nvSpPr>
        <p:spPr>
          <a:xfrm>
            <a:off x="1173100" y="1084275"/>
            <a:ext cx="91233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BR" sz="7200">
                <a:solidFill>
                  <a:srgbClr val="EBF1E8"/>
                </a:solidFill>
                <a:latin typeface="Leroy Merlin Sans"/>
                <a:ea typeface="Leroy Merlin Sans"/>
                <a:cs typeface="Leroy Merlin Sans"/>
                <a:sym typeface="Leroy Merlin Sans"/>
              </a:rPr>
              <a:t>Integração de </a:t>
            </a:r>
            <a:br>
              <a:rPr b="1" lang="en-BR" sz="7200">
                <a:solidFill>
                  <a:srgbClr val="EBF1E8"/>
                </a:solidFill>
                <a:latin typeface="Leroy Merlin Sans"/>
                <a:ea typeface="Leroy Merlin Sans"/>
                <a:cs typeface="Leroy Merlin Sans"/>
                <a:sym typeface="Leroy Merlin Sans"/>
              </a:rPr>
            </a:br>
            <a:r>
              <a:rPr b="1" lang="en-BR" sz="7200">
                <a:solidFill>
                  <a:srgbClr val="EBF1E8"/>
                </a:solidFill>
                <a:latin typeface="Leroy Merlin Sans"/>
                <a:ea typeface="Leroy Merlin Sans"/>
                <a:cs typeface="Leroy Merlin Sans"/>
                <a:sym typeface="Leroy Merlin Sans"/>
              </a:rPr>
              <a:t>Pedidos</a:t>
            </a:r>
            <a:endParaRPr b="1" i="0" sz="7200" u="none" cap="none" strike="noStrike">
              <a:solidFill>
                <a:srgbClr val="EBF1E8"/>
              </a:solidFill>
              <a:latin typeface="Leroy Merlin Sans"/>
              <a:ea typeface="Leroy Merlin Sans"/>
              <a:cs typeface="Leroy Merlin Sans"/>
              <a:sym typeface="Leroy Merlin Sans"/>
            </a:endParaRPr>
          </a:p>
        </p:txBody>
      </p:sp>
      <p:sp>
        <p:nvSpPr>
          <p:cNvPr id="155" name="Google Shape;155;g1ec505ed67e_0_487"/>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156" name="Google Shape;156;g1ec505ed67e_0_487"/>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157" name="Google Shape;157;g1ec505ed67e_0_487"/>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158" name="Google Shape;158;g1ec505ed67e_0_487"/>
          <p:cNvSpPr/>
          <p:nvPr/>
        </p:nvSpPr>
        <p:spPr>
          <a:xfrm rot="5400000">
            <a:off x="412350" y="1474275"/>
            <a:ext cx="697800" cy="420600"/>
          </a:xfrm>
          <a:prstGeom prst="triangle">
            <a:avLst>
              <a:gd fmla="val 50000" name="adj"/>
            </a:avLst>
          </a:prstGeom>
          <a:noFill/>
          <a:ln cap="flat" cmpd="sng" w="9525">
            <a:solidFill>
              <a:srgbClr val="D4E2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1ec505ed67e_0_487"/>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sp>
        <p:nvSpPr>
          <p:cNvPr id="160" name="Google Shape;160;g1ec505ed67e_0_487"/>
          <p:cNvSpPr txBox="1"/>
          <p:nvPr/>
        </p:nvSpPr>
        <p:spPr>
          <a:xfrm>
            <a:off x="1173100" y="3934200"/>
            <a:ext cx="9597000" cy="952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Receba </a:t>
            </a:r>
            <a:r>
              <a:rPr lang="en-BR" sz="2600">
                <a:solidFill>
                  <a:schemeClr val="lt2"/>
                </a:solidFill>
                <a:latin typeface="Leroy Merlin Sans"/>
                <a:ea typeface="Leroy Merlin Sans"/>
                <a:cs typeface="Leroy Merlin Sans"/>
                <a:sym typeface="Leroy Merlin Sans"/>
              </a:rPr>
              <a:t>os Pedidos em tempo real e diretamente no seu sistema, facilitando o processo operacional interno </a:t>
            </a:r>
            <a:endParaRPr sz="2600">
              <a:solidFill>
                <a:schemeClr val="lt2"/>
              </a:solidFill>
              <a:latin typeface="Leroy Merlin Sans"/>
              <a:ea typeface="Leroy Merlin Sans"/>
              <a:cs typeface="Leroy Merlin Sans"/>
              <a:sym typeface="Leroy Merli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g2d5781ae836_1_88"/>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BR" sz="4400" u="none" cap="none" strike="noStrike">
                <a:solidFill>
                  <a:schemeClr val="dk2"/>
                </a:solidFill>
                <a:latin typeface="Leroy Merlin Sans"/>
                <a:ea typeface="Leroy Merlin Sans"/>
                <a:cs typeface="Leroy Merlin Sans"/>
                <a:sym typeface="Leroy Merlin Sans"/>
              </a:rPr>
              <a:t>Como integrar?</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166" name="Google Shape;166;g2d5781ae836_1_88"/>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167" name="Google Shape;167;g2d5781ae836_1_88"/>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168" name="Google Shape;168;g2d5781ae836_1_88"/>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169" name="Google Shape;169;g2d5781ae836_1_88"/>
          <p:cNvSpPr txBox="1"/>
          <p:nvPr/>
        </p:nvSpPr>
        <p:spPr>
          <a:xfrm>
            <a:off x="660150" y="2643025"/>
            <a:ext cx="11399400" cy="4132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BR" sz="2100" u="sng" cap="none" strike="noStrike">
                <a:solidFill>
                  <a:srgbClr val="0000FF"/>
                </a:solidFill>
                <a:latin typeface="Leroy Merlin Sans"/>
                <a:ea typeface="Leroy Merlin Sans"/>
                <a:cs typeface="Leroy Merlin Sans"/>
                <a:sym typeface="Leroy Merlin Sans"/>
                <a:hlinkClick r:id="rId5">
                  <a:extLst>
                    <a:ext uri="{A12FA001-AC4F-418D-AE19-62706E023703}">
                      <ahyp:hlinkClr val="tx"/>
                    </a:ext>
                  </a:extLst>
                </a:hlinkClick>
              </a:rPr>
              <a:t>Abra um chamado</a:t>
            </a:r>
            <a:r>
              <a:rPr b="0" i="0" lang="en-BR" sz="2100" u="none" cap="none" strike="noStrike">
                <a:solidFill>
                  <a:srgbClr val="0000FF"/>
                </a:solidFill>
                <a:latin typeface="Leroy Merlin Sans"/>
                <a:ea typeface="Leroy Merlin Sans"/>
                <a:cs typeface="Leroy Merlin Sans"/>
                <a:sym typeface="Leroy Merlin Sans"/>
              </a:rPr>
              <a:t> </a:t>
            </a:r>
            <a:r>
              <a:rPr b="0" i="0" lang="en-BR" sz="2100" u="none" cap="none" strike="noStrike">
                <a:solidFill>
                  <a:schemeClr val="dk2"/>
                </a:solidFill>
                <a:latin typeface="Leroy Merlin Sans"/>
                <a:ea typeface="Leroy Merlin Sans"/>
                <a:cs typeface="Leroy Merlin Sans"/>
                <a:sym typeface="Leroy Merlin Sans"/>
              </a:rPr>
              <a:t>pelo Portal do Fornecedor</a:t>
            </a:r>
            <a:endParaRPr b="0" i="0" sz="2100" u="none" cap="none" strike="noStrike">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b="0" i="0" sz="2100" u="none" cap="none" strike="noStrike">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b="0" i="0" lang="en-BR" sz="2100" u="none" cap="none" strike="noStrike">
                <a:solidFill>
                  <a:schemeClr val="dk2"/>
                </a:solidFill>
                <a:latin typeface="Leroy Merlin Sans"/>
                <a:ea typeface="Leroy Merlin Sans"/>
                <a:cs typeface="Leroy Merlin Sans"/>
                <a:sym typeface="Leroy Merlin Sans"/>
              </a:rPr>
              <a:t>Selecione a Categoria </a:t>
            </a:r>
            <a:r>
              <a:rPr b="0" i="0" lang="en-BR" sz="2100" u="sng" cap="none" strike="noStrike">
                <a:solidFill>
                  <a:srgbClr val="0000FF"/>
                </a:solidFill>
                <a:latin typeface="Leroy Merlin Sans"/>
                <a:ea typeface="Leroy Merlin Sans"/>
                <a:cs typeface="Leroy Merlin Sans"/>
                <a:sym typeface="Leroy Merlin Sans"/>
                <a:hlinkClick r:id="rId6">
                  <a:extLst>
                    <a:ext uri="{A12FA001-AC4F-418D-AE19-62706E023703}">
                      <ahyp:hlinkClr val="tx"/>
                    </a:ext>
                  </a:extLst>
                </a:hlinkClick>
              </a:rPr>
              <a:t>“Integração via API”</a:t>
            </a:r>
            <a:endParaRPr b="0" i="0" sz="2100" u="none" cap="none" strike="noStrike">
              <a:solidFill>
                <a:srgbClr val="0000FF"/>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b="0" i="0" sz="2100" u="none" cap="none" strike="noStrike">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b="0" i="0" lang="en-BR" sz="2100" u="none" cap="none" strike="noStrike">
                <a:solidFill>
                  <a:schemeClr val="dk2"/>
                </a:solidFill>
                <a:latin typeface="Leroy Merlin Sans"/>
                <a:ea typeface="Leroy Merlin Sans"/>
                <a:cs typeface="Leroy Merlin Sans"/>
                <a:sym typeface="Leroy Merlin Sans"/>
              </a:rPr>
              <a:t>	</a:t>
            </a:r>
            <a:r>
              <a:rPr lang="en-BR" sz="2100">
                <a:solidFill>
                  <a:schemeClr val="dk2"/>
                </a:solidFill>
                <a:latin typeface="Leroy Merlin Sans"/>
                <a:ea typeface="Leroy Merlin Sans"/>
                <a:cs typeface="Leroy Merlin Sans"/>
                <a:sym typeface="Leroy Merlin Sans"/>
              </a:rPr>
              <a:t>P</a:t>
            </a:r>
            <a:r>
              <a:rPr b="0" i="0" lang="en-BR" sz="2100" u="none" cap="none" strike="noStrike">
                <a:solidFill>
                  <a:schemeClr val="dk2"/>
                </a:solidFill>
                <a:latin typeface="Leroy Merlin Sans"/>
                <a:ea typeface="Leroy Merlin Sans"/>
                <a:cs typeface="Leroy Merlin Sans"/>
                <a:sym typeface="Leroy Merlin Sans"/>
              </a:rPr>
              <a:t>rimeira integração de API</a:t>
            </a:r>
            <a:r>
              <a:rPr lang="en-BR" sz="2100">
                <a:solidFill>
                  <a:schemeClr val="dk2"/>
                </a:solidFill>
                <a:latin typeface="Leroy Merlin Sans"/>
                <a:ea typeface="Leroy Merlin Sans"/>
                <a:cs typeface="Leroy Merlin Sans"/>
                <a:sym typeface="Leroy Merlin Sans"/>
              </a:rPr>
              <a:t>? S</a:t>
            </a:r>
            <a:r>
              <a:rPr b="0" i="0" lang="en-BR" sz="2100" u="none" cap="none" strike="noStrike">
                <a:solidFill>
                  <a:schemeClr val="dk2"/>
                </a:solidFill>
                <a:latin typeface="Leroy Merlin Sans"/>
                <a:ea typeface="Leroy Merlin Sans"/>
                <a:cs typeface="Leroy Merlin Sans"/>
                <a:sym typeface="Leroy Merlin Sans"/>
              </a:rPr>
              <a:t>elecione a opção “</a:t>
            </a:r>
            <a:r>
              <a:rPr b="1" i="0" lang="en-BR" sz="2100" u="none" cap="none" strike="noStrike">
                <a:solidFill>
                  <a:schemeClr val="dk2"/>
                </a:solidFill>
                <a:latin typeface="Leroy Merlin Sans"/>
                <a:ea typeface="Leroy Merlin Sans"/>
                <a:cs typeface="Leroy Merlin Sans"/>
                <a:sym typeface="Leroy Merlin Sans"/>
              </a:rPr>
              <a:t>Solicitação de </a:t>
            </a:r>
            <a:r>
              <a:rPr b="1" lang="en-BR" sz="2100">
                <a:solidFill>
                  <a:schemeClr val="dk2"/>
                </a:solidFill>
                <a:latin typeface="Leroy Merlin Sans"/>
                <a:ea typeface="Leroy Merlin Sans"/>
                <a:cs typeface="Leroy Merlin Sans"/>
                <a:sym typeface="Leroy Merlin Sans"/>
              </a:rPr>
              <a:t>Primeiro Acesso ao DevPortal</a:t>
            </a:r>
            <a:r>
              <a:rPr b="0" i="0" lang="en-BR" sz="2100" u="none" cap="none" strike="noStrike">
                <a:solidFill>
                  <a:schemeClr val="dk2"/>
                </a:solidFill>
                <a:latin typeface="Leroy Merlin Sans"/>
                <a:ea typeface="Leroy Merlin Sans"/>
                <a:cs typeface="Leroy Merlin Sans"/>
                <a:sym typeface="Leroy Merlin Sans"/>
              </a:rPr>
              <a:t>”</a:t>
            </a:r>
            <a:br>
              <a:rPr b="0" i="0" lang="en-BR" sz="2100" u="none" cap="none" strike="noStrike">
                <a:solidFill>
                  <a:schemeClr val="dk2"/>
                </a:solidFill>
                <a:latin typeface="Leroy Merlin Sans"/>
                <a:ea typeface="Leroy Merlin Sans"/>
                <a:cs typeface="Leroy Merlin Sans"/>
                <a:sym typeface="Leroy Merlin Sans"/>
              </a:rPr>
            </a:br>
            <a:endParaRPr b="0" i="0" sz="2100" u="none" cap="none" strike="noStrike">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2100">
                <a:solidFill>
                  <a:schemeClr val="dk2"/>
                </a:solidFill>
                <a:latin typeface="Leroy Merlin Sans"/>
                <a:ea typeface="Leroy Merlin Sans"/>
                <a:cs typeface="Leroy Merlin Sans"/>
                <a:sym typeface="Leroy Merlin Sans"/>
              </a:rPr>
              <a:t>	Já possui uma Aplicação e precisa atualizar o CNPJ? Selecione a opção “</a:t>
            </a:r>
            <a:r>
              <a:rPr b="1" lang="en-BR" sz="2100">
                <a:solidFill>
                  <a:schemeClr val="dk2"/>
                </a:solidFill>
                <a:latin typeface="Leroy Merlin Sans"/>
                <a:ea typeface="Leroy Merlin Sans"/>
                <a:cs typeface="Leroy Merlin Sans"/>
                <a:sym typeface="Leroy Merlin Sans"/>
              </a:rPr>
              <a:t>Adição/Remoção de CNPJs no App Consumidor</a:t>
            </a:r>
            <a:r>
              <a:rPr lang="en-BR" sz="2100">
                <a:solidFill>
                  <a:schemeClr val="dk2"/>
                </a:solidFill>
                <a:latin typeface="Leroy Merlin Sans"/>
                <a:ea typeface="Leroy Merlin Sans"/>
                <a:cs typeface="Leroy Merlin Sans"/>
                <a:sym typeface="Leroy Merlin Sans"/>
              </a:rPr>
              <a:t>”</a:t>
            </a:r>
            <a:br>
              <a:rPr lang="en-BR" sz="2100">
                <a:solidFill>
                  <a:schemeClr val="dk2"/>
                </a:solidFill>
                <a:latin typeface="Leroy Merlin Sans"/>
                <a:ea typeface="Leroy Merlin Sans"/>
                <a:cs typeface="Leroy Merlin Sans"/>
                <a:sym typeface="Leroy Merlin Sans"/>
              </a:rPr>
            </a:br>
            <a:endParaRPr b="0" i="0" sz="2100" u="none" cap="none" strike="noStrike">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b="0" i="0" lang="en-BR" sz="2100" u="none" cap="none" strike="noStrike">
                <a:solidFill>
                  <a:schemeClr val="dk2"/>
                </a:solidFill>
                <a:latin typeface="Leroy Merlin Sans"/>
                <a:ea typeface="Leroy Merlin Sans"/>
                <a:cs typeface="Leroy Merlin Sans"/>
                <a:sym typeface="Leroy Merlin Sans"/>
              </a:rPr>
              <a:t>	</a:t>
            </a:r>
            <a:r>
              <a:rPr lang="en-BR" sz="2100">
                <a:solidFill>
                  <a:schemeClr val="dk2"/>
                </a:solidFill>
                <a:latin typeface="Leroy Merlin Sans"/>
                <a:ea typeface="Leroy Merlin Sans"/>
                <a:cs typeface="Leroy Merlin Sans"/>
                <a:sym typeface="Leroy Merlin Sans"/>
              </a:rPr>
              <a:t>Está com dúvidas ou problemas? S</a:t>
            </a:r>
            <a:r>
              <a:rPr b="0" i="0" lang="en-BR" sz="2100" u="none" cap="none" strike="noStrike">
                <a:solidFill>
                  <a:schemeClr val="dk2"/>
                </a:solidFill>
                <a:latin typeface="Leroy Merlin Sans"/>
                <a:ea typeface="Leroy Merlin Sans"/>
                <a:cs typeface="Leroy Merlin Sans"/>
                <a:sym typeface="Leroy Merlin Sans"/>
              </a:rPr>
              <a:t>elecione a opção “</a:t>
            </a:r>
            <a:r>
              <a:rPr b="1" i="0" lang="en-BR" sz="2100" u="none" cap="none" strike="noStrike">
                <a:solidFill>
                  <a:schemeClr val="dk2"/>
                </a:solidFill>
                <a:latin typeface="Leroy Merlin Sans"/>
                <a:ea typeface="Leroy Merlin Sans"/>
                <a:cs typeface="Leroy Merlin Sans"/>
                <a:sym typeface="Leroy Merlin Sans"/>
              </a:rPr>
              <a:t>Suporte APIs</a:t>
            </a:r>
            <a:r>
              <a:rPr b="0" i="0" lang="en-BR" sz="2100" u="none" cap="none" strike="noStrike">
                <a:solidFill>
                  <a:schemeClr val="dk2"/>
                </a:solidFill>
                <a:latin typeface="Leroy Merlin Sans"/>
                <a:ea typeface="Leroy Merlin Sans"/>
                <a:cs typeface="Leroy Merlin Sans"/>
                <a:sym typeface="Leroy Merlin Sans"/>
              </a:rPr>
              <a:t>”</a:t>
            </a:r>
            <a:endParaRPr b="0" i="0" sz="2600" u="none" cap="none" strike="noStrike">
              <a:solidFill>
                <a:schemeClr val="dk2"/>
              </a:solidFill>
              <a:latin typeface="Leroy Merlin Sans"/>
              <a:ea typeface="Leroy Merlin Sans"/>
              <a:cs typeface="Leroy Merlin Sans"/>
              <a:sym typeface="Leroy Merlin Sans"/>
            </a:endParaRPr>
          </a:p>
        </p:txBody>
      </p:sp>
      <p:sp>
        <p:nvSpPr>
          <p:cNvPr id="170" name="Google Shape;170;g2d5781ae836_1_88"/>
          <p:cNvSpPr txBox="1"/>
          <p:nvPr/>
        </p:nvSpPr>
        <p:spPr>
          <a:xfrm>
            <a:off x="736125" y="1615350"/>
            <a:ext cx="10871700" cy="78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BR" sz="2100" u="none" cap="none" strike="noStrike">
                <a:solidFill>
                  <a:schemeClr val="accent6"/>
                </a:solidFill>
                <a:latin typeface="Leroy Merlin Sans"/>
                <a:ea typeface="Leroy Merlin Sans"/>
                <a:cs typeface="Leroy Merlin Sans"/>
                <a:sym typeface="Leroy Merlin Sans"/>
              </a:rPr>
              <a:t>Acesse a documentação técnica (</a:t>
            </a:r>
            <a:r>
              <a:rPr b="0" i="0" lang="en-BR" sz="2100" u="sng" cap="none" strike="noStrike">
                <a:solidFill>
                  <a:schemeClr val="hlink"/>
                </a:solidFill>
                <a:latin typeface="Leroy Merlin Sans"/>
                <a:ea typeface="Leroy Merlin Sans"/>
                <a:cs typeface="Leroy Merlin Sans"/>
                <a:sym typeface="Leroy Merlin Sans"/>
                <a:hlinkClick r:id="rId7"/>
              </a:rPr>
              <a:t>swagger API Order</a:t>
            </a:r>
            <a:r>
              <a:rPr b="0" i="0" lang="en-BR" sz="2100" u="none" cap="none" strike="noStrike">
                <a:solidFill>
                  <a:schemeClr val="accent6"/>
                </a:solidFill>
                <a:latin typeface="Leroy Merlin Sans"/>
                <a:ea typeface="Leroy Merlin Sans"/>
                <a:cs typeface="Leroy Merlin Sans"/>
                <a:sym typeface="Leroy Merlin Sans"/>
              </a:rPr>
              <a:t>) e entenda a viabilidade junto ao seu time técnico ou integradora</a:t>
            </a:r>
            <a:endParaRPr b="0" i="0" sz="2600" u="none" cap="none" strike="noStrike">
              <a:solidFill>
                <a:schemeClr val="accent6"/>
              </a:solidFill>
              <a:latin typeface="Leroy Merlin Sans"/>
              <a:ea typeface="Leroy Merlin Sans"/>
              <a:cs typeface="Leroy Merlin Sans"/>
              <a:sym typeface="Leroy Merli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2BF44"/>
        </a:solidFill>
      </p:bgPr>
    </p:bg>
    <p:spTree>
      <p:nvGrpSpPr>
        <p:cNvPr id="174" name="Shape 174"/>
        <p:cNvGrpSpPr/>
        <p:nvPr/>
      </p:nvGrpSpPr>
      <p:grpSpPr>
        <a:xfrm>
          <a:off x="0" y="0"/>
          <a:ext cx="0" cy="0"/>
          <a:chOff x="0" y="0"/>
          <a:chExt cx="0" cy="0"/>
        </a:xfrm>
      </p:grpSpPr>
      <p:sp>
        <p:nvSpPr>
          <p:cNvPr id="175" name="Google Shape;175;g1ec505ed67e_0_496"/>
          <p:cNvSpPr txBox="1"/>
          <p:nvPr/>
        </p:nvSpPr>
        <p:spPr>
          <a:xfrm>
            <a:off x="1173100" y="1084275"/>
            <a:ext cx="91233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BR" sz="7200">
                <a:solidFill>
                  <a:srgbClr val="EBF1E8"/>
                </a:solidFill>
                <a:latin typeface="Leroy Merlin Sans"/>
                <a:ea typeface="Leroy Merlin Sans"/>
                <a:cs typeface="Leroy Merlin Sans"/>
                <a:sym typeface="Leroy Merlin Sans"/>
              </a:rPr>
              <a:t>Integração de </a:t>
            </a:r>
            <a:br>
              <a:rPr b="1" lang="en-BR" sz="7200">
                <a:solidFill>
                  <a:srgbClr val="EBF1E8"/>
                </a:solidFill>
                <a:latin typeface="Leroy Merlin Sans"/>
                <a:ea typeface="Leroy Merlin Sans"/>
                <a:cs typeface="Leroy Merlin Sans"/>
                <a:sym typeface="Leroy Merlin Sans"/>
              </a:rPr>
            </a:br>
            <a:r>
              <a:rPr b="1" lang="en-BR" sz="7200">
                <a:solidFill>
                  <a:srgbClr val="EBF1E8"/>
                </a:solidFill>
                <a:latin typeface="Leroy Merlin Sans"/>
                <a:ea typeface="Leroy Merlin Sans"/>
                <a:cs typeface="Leroy Merlin Sans"/>
                <a:sym typeface="Leroy Merlin Sans"/>
              </a:rPr>
              <a:t>Estoque</a:t>
            </a:r>
            <a:endParaRPr b="1" i="0" sz="7200" u="none" cap="none" strike="noStrike">
              <a:solidFill>
                <a:srgbClr val="EBF1E8"/>
              </a:solidFill>
              <a:latin typeface="Leroy Merlin Sans"/>
              <a:ea typeface="Leroy Merlin Sans"/>
              <a:cs typeface="Leroy Merlin Sans"/>
              <a:sym typeface="Leroy Merlin Sans"/>
            </a:endParaRPr>
          </a:p>
        </p:txBody>
      </p:sp>
      <p:sp>
        <p:nvSpPr>
          <p:cNvPr id="176" name="Google Shape;176;g1ec505ed67e_0_496"/>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177" name="Google Shape;177;g1ec505ed67e_0_496"/>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178" name="Google Shape;178;g1ec505ed67e_0_496"/>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179" name="Google Shape;179;g1ec505ed67e_0_496"/>
          <p:cNvSpPr/>
          <p:nvPr/>
        </p:nvSpPr>
        <p:spPr>
          <a:xfrm rot="5400000">
            <a:off x="412350" y="1474275"/>
            <a:ext cx="697800" cy="420600"/>
          </a:xfrm>
          <a:prstGeom prst="triangle">
            <a:avLst>
              <a:gd fmla="val 50000" name="adj"/>
            </a:avLst>
          </a:prstGeom>
          <a:noFill/>
          <a:ln cap="flat" cmpd="sng" w="9525">
            <a:solidFill>
              <a:srgbClr val="D4E2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ec505ed67e_0_496"/>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sp>
        <p:nvSpPr>
          <p:cNvPr id="181" name="Google Shape;181;g1ec505ed67e_0_496"/>
          <p:cNvSpPr txBox="1"/>
          <p:nvPr/>
        </p:nvSpPr>
        <p:spPr>
          <a:xfrm>
            <a:off x="1173100" y="3934200"/>
            <a:ext cx="9597000" cy="1413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Informe </a:t>
            </a:r>
            <a:r>
              <a:rPr lang="en-BR" sz="2600">
                <a:solidFill>
                  <a:schemeClr val="lt2"/>
                </a:solidFill>
                <a:latin typeface="Leroy Merlin Sans"/>
                <a:ea typeface="Leroy Merlin Sans"/>
                <a:cs typeface="Leroy Merlin Sans"/>
                <a:sym typeface="Leroy Merlin Sans"/>
              </a:rPr>
              <a:t>o estoque para nossas Lojas e possibilite a</a:t>
            </a:r>
            <a:endParaRPr sz="2600">
              <a:solidFill>
                <a:schemeClr val="lt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2600">
                <a:solidFill>
                  <a:schemeClr val="lt2"/>
                </a:solidFill>
                <a:latin typeface="Leroy Merlin Sans"/>
                <a:ea typeface="Leroy Merlin Sans"/>
                <a:cs typeface="Leroy Merlin Sans"/>
                <a:sym typeface="Leroy Merlin Sans"/>
              </a:rPr>
              <a:t>Venda Estoque Fornecedor </a:t>
            </a:r>
            <a:r>
              <a:rPr b="1" lang="en-BR" sz="2600">
                <a:solidFill>
                  <a:schemeClr val="lt2"/>
                </a:solidFill>
                <a:latin typeface="Leroy Merlin Sans"/>
                <a:ea typeface="Leroy Merlin Sans"/>
                <a:cs typeface="Leroy Merlin Sans"/>
                <a:sym typeface="Leroy Merlin Sans"/>
              </a:rPr>
              <a:t>(VEF)</a:t>
            </a:r>
            <a:r>
              <a:rPr lang="en-BR" sz="2600">
                <a:solidFill>
                  <a:schemeClr val="lt2"/>
                </a:solidFill>
                <a:latin typeface="Leroy Merlin Sans"/>
                <a:ea typeface="Leroy Merlin Sans"/>
                <a:cs typeface="Leroy Merlin Sans"/>
                <a:sym typeface="Leroy Merlin Sans"/>
              </a:rPr>
              <a:t>, na qual as Lojas da Leroy Merlin não precisam ter o item em estoque</a:t>
            </a:r>
            <a:r>
              <a:rPr lang="en-BR" sz="2600">
                <a:solidFill>
                  <a:schemeClr val="lt2"/>
                </a:solidFill>
                <a:latin typeface="Leroy Merlin Sans"/>
                <a:ea typeface="Leroy Merlin Sans"/>
                <a:cs typeface="Leroy Merlin Sans"/>
                <a:sym typeface="Leroy Merlin Sans"/>
              </a:rPr>
              <a:t> </a:t>
            </a:r>
            <a:endParaRPr sz="2600">
              <a:solidFill>
                <a:schemeClr val="lt2"/>
              </a:solidFill>
              <a:latin typeface="Leroy Merlin Sans"/>
              <a:ea typeface="Leroy Merlin Sans"/>
              <a:cs typeface="Leroy Merlin Sans"/>
              <a:sym typeface="Leroy Merli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Imagem" id="186" name="Google Shape;186;g1ec505ed67e_0_265"/>
          <p:cNvPicPr preferRelativeResize="0"/>
          <p:nvPr/>
        </p:nvPicPr>
        <p:blipFill rotWithShape="1">
          <a:blip r:embed="rId3">
            <a:alphaModFix/>
          </a:blip>
          <a:srcRect b="0" l="0" r="0" t="0"/>
          <a:stretch/>
        </p:blipFill>
        <p:spPr>
          <a:xfrm>
            <a:off x="977900" y="2216944"/>
            <a:ext cx="2895600" cy="2584450"/>
          </a:xfrm>
          <a:prstGeom prst="rect">
            <a:avLst/>
          </a:prstGeom>
          <a:noFill/>
          <a:ln>
            <a:noFill/>
          </a:ln>
        </p:spPr>
      </p:pic>
      <p:sp>
        <p:nvSpPr>
          <p:cNvPr id="187" name="Google Shape;187;g1ec505ed67e_0_265"/>
          <p:cNvSpPr txBox="1"/>
          <p:nvPr>
            <p:ph idx="1" type="body"/>
          </p:nvPr>
        </p:nvSpPr>
        <p:spPr>
          <a:xfrm>
            <a:off x="5365750" y="2216950"/>
            <a:ext cx="5973900" cy="4456500"/>
          </a:xfrm>
          <a:prstGeom prst="rect">
            <a:avLst/>
          </a:prstGeom>
          <a:noFill/>
          <a:ln>
            <a:noFill/>
          </a:ln>
        </p:spPr>
        <p:txBody>
          <a:bodyPr anchorCtr="0" anchor="t" bIns="25400" lIns="25400" spcFirstLastPara="1" rIns="25400" wrap="square" tIns="25400">
            <a:noAutofit/>
          </a:bodyPr>
          <a:lstStyle/>
          <a:p>
            <a:pPr indent="0" lvl="0" marL="0" rtl="0" algn="l">
              <a:lnSpc>
                <a:spcPct val="150000"/>
              </a:lnSpc>
              <a:spcBef>
                <a:spcPts val="0"/>
              </a:spcBef>
              <a:spcAft>
                <a:spcPts val="0"/>
              </a:spcAft>
              <a:buClr>
                <a:srgbClr val="333333"/>
              </a:buClr>
              <a:buSzPts val="1400"/>
              <a:buFont typeface="Arial"/>
              <a:buNone/>
            </a:pPr>
            <a:r>
              <a:rPr lang="en-BR" sz="1400">
                <a:solidFill>
                  <a:srgbClr val="333333"/>
                </a:solidFill>
                <a:latin typeface="Arial"/>
                <a:ea typeface="Arial"/>
                <a:cs typeface="Arial"/>
                <a:sym typeface="Arial"/>
              </a:rPr>
              <a:t>Através de uma</a:t>
            </a:r>
            <a:r>
              <a:rPr b="1" lang="en-BR" sz="1400">
                <a:solidFill>
                  <a:srgbClr val="193576"/>
                </a:solidFill>
                <a:latin typeface="Arial"/>
                <a:ea typeface="Arial"/>
                <a:cs typeface="Arial"/>
                <a:sym typeface="Arial"/>
              </a:rPr>
              <a:t> API </a:t>
            </a:r>
            <a:r>
              <a:rPr lang="en-BR" sz="1400">
                <a:solidFill>
                  <a:srgbClr val="333333"/>
                </a:solidFill>
                <a:latin typeface="Arial"/>
                <a:ea typeface="Arial"/>
                <a:cs typeface="Arial"/>
                <a:sym typeface="Arial"/>
              </a:rPr>
              <a:t>(ligação sistêmica), a Leroy Merlin </a:t>
            </a:r>
            <a:r>
              <a:rPr b="1" lang="en-BR" sz="1400">
                <a:solidFill>
                  <a:srgbClr val="193576"/>
                </a:solidFill>
                <a:latin typeface="Arial"/>
                <a:ea typeface="Arial"/>
                <a:cs typeface="Arial"/>
                <a:sym typeface="Arial"/>
              </a:rPr>
              <a:t>visualiza o estoque do fornecedor</a:t>
            </a:r>
            <a:r>
              <a:rPr lang="en-BR" sz="1400">
                <a:solidFill>
                  <a:srgbClr val="333333"/>
                </a:solidFill>
                <a:latin typeface="Arial"/>
                <a:ea typeface="Arial"/>
                <a:cs typeface="Arial"/>
                <a:sym typeface="Arial"/>
              </a:rPr>
              <a:t> que é destinado ao </a:t>
            </a:r>
            <a:r>
              <a:rPr b="1" lang="en-BR" sz="1400">
                <a:solidFill>
                  <a:srgbClr val="00B050"/>
                </a:solidFill>
                <a:latin typeface="Arial"/>
                <a:ea typeface="Arial"/>
                <a:cs typeface="Arial"/>
                <a:sym typeface="Arial"/>
              </a:rPr>
              <a:t>VEF</a:t>
            </a:r>
            <a:r>
              <a:rPr lang="en-BR" sz="1400">
                <a:solidFill>
                  <a:srgbClr val="333333"/>
                </a:solidFill>
                <a:latin typeface="Arial"/>
                <a:ea typeface="Arial"/>
                <a:cs typeface="Arial"/>
                <a:sym typeface="Arial"/>
              </a:rPr>
              <a:t>. Garantindo a venda e o menor prazo de entrega.</a:t>
            </a:r>
            <a:endParaRPr/>
          </a:p>
          <a:p>
            <a:pPr indent="0" lvl="0" marL="0" rtl="0" algn="l">
              <a:lnSpc>
                <a:spcPct val="150000"/>
              </a:lnSpc>
              <a:spcBef>
                <a:spcPts val="0"/>
              </a:spcBef>
              <a:spcAft>
                <a:spcPts val="0"/>
              </a:spcAft>
              <a:buClr>
                <a:srgbClr val="000000"/>
              </a:buClr>
              <a:buSzPts val="1400"/>
              <a:buFont typeface="Helvetica Neue"/>
              <a:buNone/>
            </a:pPr>
            <a:r>
              <a:t/>
            </a:r>
            <a:endParaRPr sz="1400">
              <a:solidFill>
                <a:srgbClr val="333333"/>
              </a:solidFill>
              <a:latin typeface="Arial"/>
              <a:ea typeface="Arial"/>
              <a:cs typeface="Arial"/>
              <a:sym typeface="Arial"/>
            </a:endParaRPr>
          </a:p>
          <a:p>
            <a:pPr indent="0" lvl="0" marL="0" rtl="0" algn="l">
              <a:lnSpc>
                <a:spcPct val="150000"/>
              </a:lnSpc>
              <a:spcBef>
                <a:spcPts val="0"/>
              </a:spcBef>
              <a:spcAft>
                <a:spcPts val="0"/>
              </a:spcAft>
              <a:buClr>
                <a:srgbClr val="333333"/>
              </a:buClr>
              <a:buSzPts val="1400"/>
              <a:buFont typeface="Arial"/>
              <a:buNone/>
            </a:pPr>
            <a:r>
              <a:rPr lang="en-BR" sz="1400">
                <a:solidFill>
                  <a:srgbClr val="333333"/>
                </a:solidFill>
                <a:latin typeface="Arial"/>
                <a:ea typeface="Arial"/>
                <a:cs typeface="Arial"/>
                <a:sym typeface="Arial"/>
              </a:rPr>
              <a:t>O cliente poderá ter acesso aos itens VEF através das lojas, televendas ou site da Leroy Merlin. Assim que for efetuado a venda, haverá um processo, onde o fornecedor recebe o pedido de compra de acordo com a necessidade do cliente, isto é, o </a:t>
            </a:r>
            <a:r>
              <a:rPr b="1" lang="en-BR" sz="1400">
                <a:solidFill>
                  <a:srgbClr val="549E39"/>
                </a:solidFill>
                <a:latin typeface="Arial"/>
                <a:ea typeface="Arial"/>
                <a:cs typeface="Arial"/>
                <a:sym typeface="Arial"/>
              </a:rPr>
              <a:t>pedido mínimo e o acondicionamento são iguais ao pedido do cliente</a:t>
            </a:r>
            <a:r>
              <a:rPr lang="en-BR" sz="1400">
                <a:solidFill>
                  <a:srgbClr val="333333"/>
                </a:solidFill>
                <a:latin typeface="Arial"/>
                <a:ea typeface="Arial"/>
                <a:cs typeface="Arial"/>
                <a:sym typeface="Arial"/>
              </a:rPr>
              <a:t>.</a:t>
            </a:r>
            <a:endParaRPr/>
          </a:p>
          <a:p>
            <a:pPr indent="0" lvl="0" marL="0" rtl="0" algn="l">
              <a:lnSpc>
                <a:spcPct val="150000"/>
              </a:lnSpc>
              <a:spcBef>
                <a:spcPts val="0"/>
              </a:spcBef>
              <a:spcAft>
                <a:spcPts val="0"/>
              </a:spcAft>
              <a:buClr>
                <a:srgbClr val="333333"/>
              </a:buClr>
              <a:buSzPts val="1400"/>
              <a:buFont typeface="Arial"/>
              <a:buNone/>
            </a:pPr>
            <a:r>
              <a:t/>
            </a:r>
            <a:endParaRPr/>
          </a:p>
        </p:txBody>
      </p:sp>
      <p:sp>
        <p:nvSpPr>
          <p:cNvPr id="188" name="Google Shape;188;g1ec505ed67e_0_265"/>
          <p:cNvSpPr txBox="1"/>
          <p:nvPr/>
        </p:nvSpPr>
        <p:spPr>
          <a:xfrm>
            <a:off x="5365750" y="501795"/>
            <a:ext cx="6959700" cy="679200"/>
          </a:xfrm>
          <a:prstGeom prst="rect">
            <a:avLst/>
          </a:prstGeom>
          <a:noFill/>
          <a:ln>
            <a:noFill/>
          </a:ln>
        </p:spPr>
        <p:txBody>
          <a:bodyPr anchorCtr="0" anchor="ctr" bIns="25400" lIns="25400" spcFirstLastPara="1" rIns="25400" wrap="square" tIns="25400">
            <a:spAutoFit/>
          </a:bodyPr>
          <a:lstStyle/>
          <a:p>
            <a:pPr indent="114300" lvl="1" marL="0" marR="0" rtl="0" algn="l">
              <a:lnSpc>
                <a:spcPct val="80000"/>
              </a:lnSpc>
              <a:spcBef>
                <a:spcPts val="0"/>
              </a:spcBef>
              <a:spcAft>
                <a:spcPts val="0"/>
              </a:spcAft>
              <a:buClr>
                <a:srgbClr val="000000"/>
              </a:buClr>
              <a:buSzPts val="4000"/>
              <a:buFont typeface="Arial"/>
              <a:buNone/>
            </a:pPr>
            <a:r>
              <a:rPr b="1" lang="en-BR" sz="4000">
                <a:solidFill>
                  <a:srgbClr val="9F9F9F"/>
                </a:solidFill>
              </a:rPr>
              <a:t>VEF: </a:t>
            </a:r>
            <a:r>
              <a:rPr b="1" i="0" lang="en-BR" sz="4000" u="none" cap="none" strike="noStrike">
                <a:solidFill>
                  <a:srgbClr val="9F9F9F"/>
                </a:solidFill>
                <a:latin typeface="Arial"/>
                <a:ea typeface="Arial"/>
                <a:cs typeface="Arial"/>
                <a:sym typeface="Arial"/>
              </a:rPr>
              <a:t>Como</a:t>
            </a:r>
            <a:r>
              <a:rPr b="1" i="0" lang="en-BR" sz="5100" u="none" cap="none" strike="noStrike">
                <a:solidFill>
                  <a:srgbClr val="9F9F9F"/>
                </a:solidFill>
                <a:latin typeface="Arial"/>
                <a:ea typeface="Arial"/>
                <a:cs typeface="Arial"/>
                <a:sym typeface="Arial"/>
              </a:rPr>
              <a:t> </a:t>
            </a:r>
            <a:r>
              <a:rPr b="1" i="0" lang="en-BR" sz="4000" u="none" cap="none" strike="noStrike">
                <a:solidFill>
                  <a:srgbClr val="9F9F9F"/>
                </a:solidFill>
                <a:latin typeface="Arial"/>
                <a:ea typeface="Arial"/>
                <a:cs typeface="Arial"/>
                <a:sym typeface="Arial"/>
              </a:rPr>
              <a:t>funciona</a:t>
            </a:r>
            <a:r>
              <a:rPr b="1" i="0" lang="en-BR" sz="5100" u="none" cap="none" strike="noStrike">
                <a:solidFill>
                  <a:srgbClr val="9F9F9F"/>
                </a:solidFill>
                <a:latin typeface="Arial"/>
                <a:ea typeface="Arial"/>
                <a:cs typeface="Arial"/>
                <a:sym typeface="Arial"/>
              </a:rPr>
              <a:t> </a:t>
            </a:r>
            <a:endParaRPr b="1" i="0" sz="5100" u="none" cap="none" strike="noStrike">
              <a:solidFill>
                <a:srgbClr val="9F9F9F"/>
              </a:solidFill>
              <a:latin typeface="Arial"/>
              <a:ea typeface="Arial"/>
              <a:cs typeface="Arial"/>
              <a:sym typeface="Arial"/>
            </a:endParaRPr>
          </a:p>
        </p:txBody>
      </p:sp>
      <p:cxnSp>
        <p:nvCxnSpPr>
          <p:cNvPr id="189" name="Google Shape;189;g1ec505ed67e_0_265"/>
          <p:cNvCxnSpPr/>
          <p:nvPr/>
        </p:nvCxnSpPr>
        <p:spPr>
          <a:xfrm>
            <a:off x="5552282" y="1377950"/>
            <a:ext cx="1759800" cy="0"/>
          </a:xfrm>
          <a:prstGeom prst="straightConnector1">
            <a:avLst/>
          </a:prstGeom>
          <a:noFill/>
          <a:ln cap="flat" cmpd="sng" w="76200">
            <a:solidFill>
              <a:srgbClr val="549E39"/>
            </a:solidFill>
            <a:prstDash val="solid"/>
            <a:miter lim="400000"/>
            <a:headEnd len="sm" w="sm" type="none"/>
            <a:tailEnd len="sm" w="sm" type="none"/>
          </a:ln>
        </p:spPr>
      </p:cxnSp>
      <p:pic>
        <p:nvPicPr>
          <p:cNvPr descr="Imagem" id="190" name="Google Shape;190;g1ec505ed67e_0_265"/>
          <p:cNvPicPr preferRelativeResize="0"/>
          <p:nvPr/>
        </p:nvPicPr>
        <p:blipFill rotWithShape="1">
          <a:blip r:embed="rId4">
            <a:alphaModFix/>
          </a:blip>
          <a:srcRect b="0" l="0" r="0" t="0"/>
          <a:stretch/>
        </p:blipFill>
        <p:spPr>
          <a:xfrm>
            <a:off x="643732" y="1283494"/>
            <a:ext cx="694531" cy="869950"/>
          </a:xfrm>
          <a:prstGeom prst="rect">
            <a:avLst/>
          </a:prstGeom>
          <a:noFill/>
          <a:ln>
            <a:noFill/>
          </a:ln>
        </p:spPr>
      </p:pic>
      <p:pic>
        <p:nvPicPr>
          <p:cNvPr descr="Imagem" id="191" name="Google Shape;191;g1ec505ed67e_0_265"/>
          <p:cNvPicPr preferRelativeResize="0"/>
          <p:nvPr/>
        </p:nvPicPr>
        <p:blipFill rotWithShape="1">
          <a:blip r:embed="rId4">
            <a:alphaModFix/>
          </a:blip>
          <a:srcRect b="0" l="0" r="0" t="0"/>
          <a:stretch/>
        </p:blipFill>
        <p:spPr>
          <a:xfrm>
            <a:off x="3513932" y="4864894"/>
            <a:ext cx="694531" cy="869950"/>
          </a:xfrm>
          <a:prstGeom prst="rect">
            <a:avLst/>
          </a:prstGeom>
          <a:noFill/>
          <a:ln>
            <a:noFill/>
          </a:ln>
        </p:spPr>
      </p:pic>
      <p:pic>
        <p:nvPicPr>
          <p:cNvPr descr="Imagem" id="192" name="Google Shape;192;g1ec505ed67e_0_265"/>
          <p:cNvPicPr preferRelativeResize="0"/>
          <p:nvPr/>
        </p:nvPicPr>
        <p:blipFill rotWithShape="1">
          <a:blip r:embed="rId5">
            <a:alphaModFix/>
          </a:blip>
          <a:srcRect b="0" l="0" r="0" t="0"/>
          <a:stretch/>
        </p:blipFill>
        <p:spPr>
          <a:xfrm>
            <a:off x="1870869" y="3161506"/>
            <a:ext cx="1096962" cy="695325"/>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g1ec505ed67e_0_796"/>
          <p:cNvSpPr txBox="1"/>
          <p:nvPr/>
        </p:nvSpPr>
        <p:spPr>
          <a:xfrm>
            <a:off x="996431" y="431600"/>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Como integrar?</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198" name="Google Shape;198;g1ec505ed67e_0_796"/>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199" name="Google Shape;199;g1ec505ed67e_0_796"/>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00" name="Google Shape;200;g1ec505ed67e_0_796"/>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01" name="Google Shape;201;g1ec505ed67e_0_796"/>
          <p:cNvSpPr txBox="1"/>
          <p:nvPr/>
        </p:nvSpPr>
        <p:spPr>
          <a:xfrm>
            <a:off x="736125" y="2497600"/>
            <a:ext cx="10871700" cy="2809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lang="en-BR" sz="1900" u="sng">
                <a:solidFill>
                  <a:srgbClr val="0000FF"/>
                </a:solidFill>
                <a:latin typeface="Leroy Merlin Sans"/>
                <a:ea typeface="Leroy Merlin Sans"/>
                <a:cs typeface="Leroy Merlin Sans"/>
                <a:sym typeface="Leroy Merlin Sans"/>
                <a:hlinkClick r:id="rId5">
                  <a:extLst>
                    <a:ext uri="{A12FA001-AC4F-418D-AE19-62706E023703}">
                      <ahyp:hlinkClr val="tx"/>
                    </a:ext>
                  </a:extLst>
                </a:hlinkClick>
              </a:rPr>
              <a:t>Abra um chamado</a:t>
            </a:r>
            <a:r>
              <a:rPr lang="en-BR" sz="1900">
                <a:solidFill>
                  <a:srgbClr val="0000FF"/>
                </a:solidFill>
                <a:latin typeface="Leroy Merlin Sans"/>
                <a:ea typeface="Leroy Merlin Sans"/>
                <a:cs typeface="Leroy Merlin Sans"/>
                <a:sym typeface="Leroy Merlin Sans"/>
              </a:rPr>
              <a:t> </a:t>
            </a:r>
            <a:r>
              <a:rPr lang="en-BR" sz="1900">
                <a:solidFill>
                  <a:schemeClr val="dk2"/>
                </a:solidFill>
                <a:latin typeface="Leroy Merlin Sans"/>
                <a:ea typeface="Leroy Merlin Sans"/>
                <a:cs typeface="Leroy Merlin Sans"/>
                <a:sym typeface="Leroy Merlin Sans"/>
              </a:rPr>
              <a:t>pelo Portal do Fornecedor</a:t>
            </a:r>
            <a:endParaRPr sz="19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19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1900">
                <a:solidFill>
                  <a:schemeClr val="dk2"/>
                </a:solidFill>
                <a:latin typeface="Leroy Merlin Sans"/>
                <a:ea typeface="Leroy Merlin Sans"/>
                <a:cs typeface="Leroy Merlin Sans"/>
                <a:sym typeface="Leroy Merlin Sans"/>
              </a:rPr>
              <a:t>Selecione a Categoria </a:t>
            </a:r>
            <a:r>
              <a:rPr lang="en-BR" sz="1900" u="sng">
                <a:solidFill>
                  <a:srgbClr val="0000FF"/>
                </a:solidFill>
                <a:latin typeface="Leroy Merlin Sans"/>
                <a:ea typeface="Leroy Merlin Sans"/>
                <a:cs typeface="Leroy Merlin Sans"/>
                <a:sym typeface="Leroy Merlin Sans"/>
                <a:hlinkClick r:id="rId6">
                  <a:extLst>
                    <a:ext uri="{A12FA001-AC4F-418D-AE19-62706E023703}">
                      <ahyp:hlinkClr val="tx"/>
                    </a:ext>
                  </a:extLst>
                </a:hlinkClick>
              </a:rPr>
              <a:t>“Integração via API”</a:t>
            </a:r>
            <a:endParaRPr sz="1900">
              <a:solidFill>
                <a:srgbClr val="0000FF"/>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19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2800"/>
              <a:buFont typeface="Arial"/>
              <a:buNone/>
            </a:pPr>
            <a:r>
              <a:rPr lang="en-BR" sz="2100">
                <a:solidFill>
                  <a:schemeClr val="dk2"/>
                </a:solidFill>
                <a:latin typeface="Leroy Merlin Sans"/>
                <a:ea typeface="Leroy Merlin Sans"/>
                <a:cs typeface="Leroy Merlin Sans"/>
                <a:sym typeface="Leroy Merlin Sans"/>
              </a:rPr>
              <a:t>	Primeira integração de API? Selecione a opção “</a:t>
            </a:r>
            <a:r>
              <a:rPr b="1" lang="en-BR" sz="2100">
                <a:solidFill>
                  <a:schemeClr val="dk2"/>
                </a:solidFill>
                <a:latin typeface="Leroy Merlin Sans"/>
                <a:ea typeface="Leroy Merlin Sans"/>
                <a:cs typeface="Leroy Merlin Sans"/>
                <a:sym typeface="Leroy Merlin Sans"/>
              </a:rPr>
              <a:t>Solicitação de Primeiro Acesso ao DevPortal</a:t>
            </a:r>
            <a:r>
              <a:rPr lang="en-BR" sz="2100">
                <a:solidFill>
                  <a:schemeClr val="dk2"/>
                </a:solidFill>
                <a:latin typeface="Leroy Merlin Sans"/>
                <a:ea typeface="Leroy Merlin Sans"/>
                <a:cs typeface="Leroy Merlin Sans"/>
                <a:sym typeface="Leroy Merlin Sans"/>
              </a:rPr>
              <a:t>”</a:t>
            </a:r>
            <a:endParaRPr sz="19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19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1900">
                <a:solidFill>
                  <a:schemeClr val="dk2"/>
                </a:solidFill>
                <a:latin typeface="Leroy Merlin Sans"/>
                <a:ea typeface="Leroy Merlin Sans"/>
                <a:cs typeface="Leroy Merlin Sans"/>
                <a:sym typeface="Leroy Merlin Sans"/>
              </a:rPr>
              <a:t>	Caso já tenha uma  integração de API, selecione a opção “</a:t>
            </a:r>
            <a:r>
              <a:rPr b="1" lang="en-BR" sz="1900">
                <a:solidFill>
                  <a:schemeClr val="dk2"/>
                </a:solidFill>
                <a:latin typeface="Leroy Merlin Sans"/>
                <a:ea typeface="Leroy Merlin Sans"/>
                <a:cs typeface="Leroy Merlin Sans"/>
                <a:sym typeface="Leroy Merlin Sans"/>
              </a:rPr>
              <a:t>Suporte APIs</a:t>
            </a:r>
            <a:r>
              <a:rPr lang="en-BR" sz="1900">
                <a:solidFill>
                  <a:schemeClr val="dk2"/>
                </a:solidFill>
                <a:latin typeface="Leroy Merlin Sans"/>
                <a:ea typeface="Leroy Merlin Sans"/>
                <a:cs typeface="Leroy Merlin Sans"/>
                <a:sym typeface="Leroy Merlin Sans"/>
              </a:rPr>
              <a:t>”</a:t>
            </a:r>
            <a:endParaRPr sz="2400">
              <a:solidFill>
                <a:schemeClr val="dk2"/>
              </a:solidFill>
              <a:latin typeface="Leroy Merlin Sans"/>
              <a:ea typeface="Leroy Merlin Sans"/>
              <a:cs typeface="Leroy Merlin Sans"/>
              <a:sym typeface="Leroy Merlin Sans"/>
            </a:endParaRPr>
          </a:p>
        </p:txBody>
      </p:sp>
      <p:sp>
        <p:nvSpPr>
          <p:cNvPr id="202" name="Google Shape;202;g1ec505ed67e_0_796"/>
          <p:cNvSpPr txBox="1"/>
          <p:nvPr/>
        </p:nvSpPr>
        <p:spPr>
          <a:xfrm>
            <a:off x="736125" y="5676388"/>
            <a:ext cx="11266800" cy="838800"/>
          </a:xfrm>
          <a:prstGeom prst="rect">
            <a:avLst/>
          </a:prstGeom>
          <a:noFill/>
          <a:ln>
            <a:noFill/>
          </a:ln>
        </p:spPr>
        <p:txBody>
          <a:bodyPr anchorCtr="0" anchor="t" bIns="45725" lIns="45725" spcFirstLastPara="1" rIns="45725" wrap="square" tIns="45725">
            <a:spAutoFit/>
          </a:bodyPr>
          <a:lstStyle/>
          <a:p>
            <a:pPr indent="0" lvl="0" marL="0" rtl="0" algn="l">
              <a:lnSpc>
                <a:spcPct val="150000"/>
              </a:lnSpc>
              <a:spcBef>
                <a:spcPts val="0"/>
              </a:spcBef>
              <a:spcAft>
                <a:spcPts val="0"/>
              </a:spcAft>
              <a:buNone/>
            </a:pPr>
            <a:r>
              <a:rPr b="1" lang="en-BR" sz="2100">
                <a:solidFill>
                  <a:srgbClr val="990000"/>
                </a:solidFill>
              </a:rPr>
              <a:t>Importante</a:t>
            </a:r>
            <a:r>
              <a:rPr lang="en-BR" sz="1700">
                <a:solidFill>
                  <a:srgbClr val="333333"/>
                </a:solidFill>
              </a:rPr>
              <a:t>: Esse processo deve acontecer após acordo com o Gerente de Produto,  seleção de gama, assinatura do aditivo e cadastro do produto como VEF.</a:t>
            </a:r>
            <a:endParaRPr sz="1700"/>
          </a:p>
        </p:txBody>
      </p:sp>
      <p:sp>
        <p:nvSpPr>
          <p:cNvPr id="203" name="Google Shape;203;g1ec505ed67e_0_796"/>
          <p:cNvSpPr txBox="1"/>
          <p:nvPr/>
        </p:nvSpPr>
        <p:spPr>
          <a:xfrm>
            <a:off x="736125" y="1310550"/>
            <a:ext cx="10871700" cy="78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lang="en-BR" sz="2100">
                <a:solidFill>
                  <a:schemeClr val="accent6"/>
                </a:solidFill>
                <a:latin typeface="Leroy Merlin Sans"/>
                <a:ea typeface="Leroy Merlin Sans"/>
                <a:cs typeface="Leroy Merlin Sans"/>
                <a:sym typeface="Leroy Merlin Sans"/>
              </a:rPr>
              <a:t>Acesse a documentação técnica (</a:t>
            </a:r>
            <a:r>
              <a:rPr lang="en-BR" sz="2100" u="sng">
                <a:solidFill>
                  <a:schemeClr val="hlink"/>
                </a:solidFill>
                <a:latin typeface="Leroy Merlin Sans"/>
                <a:ea typeface="Leroy Merlin Sans"/>
                <a:cs typeface="Leroy Merlin Sans"/>
                <a:sym typeface="Leroy Merlin Sans"/>
                <a:hlinkClick r:id="rId7"/>
              </a:rPr>
              <a:t>swagger API Stock</a:t>
            </a:r>
            <a:r>
              <a:rPr lang="en-BR" sz="2100">
                <a:solidFill>
                  <a:schemeClr val="accent6"/>
                </a:solidFill>
                <a:latin typeface="Leroy Merlin Sans"/>
                <a:ea typeface="Leroy Merlin Sans"/>
                <a:cs typeface="Leroy Merlin Sans"/>
                <a:sym typeface="Leroy Merlin Sans"/>
              </a:rPr>
              <a:t>) e entenda a viabilidade junto ao seu time técnico ou integradora</a:t>
            </a:r>
            <a:endParaRPr sz="2600">
              <a:solidFill>
                <a:schemeClr val="accent6"/>
              </a:solidFill>
              <a:latin typeface="Leroy Merlin Sans"/>
              <a:ea typeface="Leroy Merlin Sans"/>
              <a:cs typeface="Leroy Merlin Sans"/>
              <a:sym typeface="Leroy Merli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2BF44"/>
        </a:solidFill>
      </p:bgPr>
    </p:bg>
    <p:spTree>
      <p:nvGrpSpPr>
        <p:cNvPr id="207" name="Shape 207"/>
        <p:cNvGrpSpPr/>
        <p:nvPr/>
      </p:nvGrpSpPr>
      <p:grpSpPr>
        <a:xfrm>
          <a:off x="0" y="0"/>
          <a:ext cx="0" cy="0"/>
          <a:chOff x="0" y="0"/>
          <a:chExt cx="0" cy="0"/>
        </a:xfrm>
      </p:grpSpPr>
      <p:sp>
        <p:nvSpPr>
          <p:cNvPr id="208" name="Google Shape;208;g1ec505ed67e_0_505"/>
          <p:cNvSpPr txBox="1"/>
          <p:nvPr/>
        </p:nvSpPr>
        <p:spPr>
          <a:xfrm>
            <a:off x="1173100" y="3934200"/>
            <a:ext cx="95970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Receba </a:t>
            </a:r>
            <a:r>
              <a:rPr lang="en-BR" sz="2600">
                <a:solidFill>
                  <a:schemeClr val="lt2"/>
                </a:solidFill>
                <a:latin typeface="Leroy Merlin Sans"/>
                <a:ea typeface="Leroy Merlin Sans"/>
                <a:cs typeface="Leroy Merlin Sans"/>
                <a:sym typeface="Leroy Merlin Sans"/>
              </a:rPr>
              <a:t>as informações sobre seus produtos na Leroy Merlin, sobre  Cadastro, Gama, Topagem e Modalidade de Venda (ex: VEF/EDF/PEC)</a:t>
            </a:r>
            <a:endParaRPr sz="2600">
              <a:solidFill>
                <a:schemeClr val="lt2"/>
              </a:solidFill>
              <a:latin typeface="Leroy Merlin Sans"/>
              <a:ea typeface="Leroy Merlin Sans"/>
              <a:cs typeface="Leroy Merlin Sans"/>
              <a:sym typeface="Leroy Merlin Sans"/>
            </a:endParaRPr>
          </a:p>
        </p:txBody>
      </p:sp>
      <p:sp>
        <p:nvSpPr>
          <p:cNvPr id="209" name="Google Shape;209;g1ec505ed67e_0_505"/>
          <p:cNvSpPr txBox="1"/>
          <p:nvPr/>
        </p:nvSpPr>
        <p:spPr>
          <a:xfrm>
            <a:off x="1173100" y="1084275"/>
            <a:ext cx="91233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BR" sz="7200">
                <a:solidFill>
                  <a:srgbClr val="EBF1E8"/>
                </a:solidFill>
                <a:latin typeface="Leroy Merlin Sans"/>
                <a:ea typeface="Leroy Merlin Sans"/>
                <a:cs typeface="Leroy Merlin Sans"/>
                <a:sym typeface="Leroy Merlin Sans"/>
              </a:rPr>
              <a:t>Integração de </a:t>
            </a:r>
            <a:br>
              <a:rPr b="1" lang="en-BR" sz="7200">
                <a:solidFill>
                  <a:srgbClr val="EBF1E8"/>
                </a:solidFill>
                <a:latin typeface="Leroy Merlin Sans"/>
                <a:ea typeface="Leroy Merlin Sans"/>
                <a:cs typeface="Leroy Merlin Sans"/>
                <a:sym typeface="Leroy Merlin Sans"/>
              </a:rPr>
            </a:br>
            <a:r>
              <a:rPr b="1" lang="en-BR" sz="7200">
                <a:solidFill>
                  <a:srgbClr val="EBF1E8"/>
                </a:solidFill>
                <a:latin typeface="Leroy Merlin Sans"/>
                <a:ea typeface="Leroy Merlin Sans"/>
                <a:cs typeface="Leroy Merlin Sans"/>
                <a:sym typeface="Leroy Merlin Sans"/>
              </a:rPr>
              <a:t>Produtos</a:t>
            </a:r>
            <a:endParaRPr b="1" i="0" sz="7200" u="none" cap="none" strike="noStrike">
              <a:solidFill>
                <a:srgbClr val="EBF1E8"/>
              </a:solidFill>
              <a:latin typeface="Leroy Merlin Sans"/>
              <a:ea typeface="Leroy Merlin Sans"/>
              <a:cs typeface="Leroy Merlin Sans"/>
              <a:sym typeface="Leroy Merlin Sans"/>
            </a:endParaRPr>
          </a:p>
        </p:txBody>
      </p:sp>
      <p:sp>
        <p:nvSpPr>
          <p:cNvPr id="210" name="Google Shape;210;g1ec505ed67e_0_505"/>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211" name="Google Shape;211;g1ec505ed67e_0_505"/>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212" name="Google Shape;212;g1ec505ed67e_0_505"/>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13" name="Google Shape;213;g1ec505ed67e_0_505"/>
          <p:cNvSpPr/>
          <p:nvPr/>
        </p:nvSpPr>
        <p:spPr>
          <a:xfrm rot="5400000">
            <a:off x="412350" y="1474275"/>
            <a:ext cx="697800" cy="420600"/>
          </a:xfrm>
          <a:prstGeom prst="triangle">
            <a:avLst>
              <a:gd fmla="val 50000" name="adj"/>
            </a:avLst>
          </a:prstGeom>
          <a:noFill/>
          <a:ln cap="flat" cmpd="sng" w="9525">
            <a:solidFill>
              <a:srgbClr val="D4E2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1ec505ed67e_0_505"/>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g1ec505ed67e_0_806"/>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Como integrar?</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220" name="Google Shape;220;g1ec505ed67e_0_806"/>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221" name="Google Shape;221;g1ec505ed67e_0_806"/>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22" name="Google Shape;222;g1ec505ed67e_0_806"/>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23" name="Google Shape;223;g1ec505ed67e_0_806"/>
          <p:cNvSpPr txBox="1"/>
          <p:nvPr/>
        </p:nvSpPr>
        <p:spPr>
          <a:xfrm>
            <a:off x="736125" y="2878600"/>
            <a:ext cx="10871700" cy="3017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lang="en-BR" sz="2100" u="sng">
                <a:solidFill>
                  <a:srgbClr val="0000FF"/>
                </a:solidFill>
                <a:latin typeface="Leroy Merlin Sans"/>
                <a:ea typeface="Leroy Merlin Sans"/>
                <a:cs typeface="Leroy Merlin Sans"/>
                <a:sym typeface="Leroy Merlin Sans"/>
                <a:hlinkClick r:id="rId5">
                  <a:extLst>
                    <a:ext uri="{A12FA001-AC4F-418D-AE19-62706E023703}">
                      <ahyp:hlinkClr val="tx"/>
                    </a:ext>
                  </a:extLst>
                </a:hlinkClick>
              </a:rPr>
              <a:t>Abra um chamado</a:t>
            </a:r>
            <a:r>
              <a:rPr lang="en-BR" sz="2100">
                <a:solidFill>
                  <a:srgbClr val="0000FF"/>
                </a:solidFill>
                <a:latin typeface="Leroy Merlin Sans"/>
                <a:ea typeface="Leroy Merlin Sans"/>
                <a:cs typeface="Leroy Merlin Sans"/>
                <a:sym typeface="Leroy Merlin Sans"/>
              </a:rPr>
              <a:t> </a:t>
            </a:r>
            <a:r>
              <a:rPr lang="en-BR" sz="2100">
                <a:solidFill>
                  <a:schemeClr val="dk2"/>
                </a:solidFill>
                <a:latin typeface="Leroy Merlin Sans"/>
                <a:ea typeface="Leroy Merlin Sans"/>
                <a:cs typeface="Leroy Merlin Sans"/>
                <a:sym typeface="Leroy Merlin Sans"/>
              </a:rPr>
              <a:t>pelo Portal do Fornecedor</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2100">
                <a:solidFill>
                  <a:schemeClr val="dk2"/>
                </a:solidFill>
                <a:latin typeface="Leroy Merlin Sans"/>
                <a:ea typeface="Leroy Merlin Sans"/>
                <a:cs typeface="Leroy Merlin Sans"/>
                <a:sym typeface="Leroy Merlin Sans"/>
              </a:rPr>
              <a:t>Selecione a Categoria </a:t>
            </a:r>
            <a:r>
              <a:rPr lang="en-BR" sz="2100" u="sng">
                <a:solidFill>
                  <a:srgbClr val="0000FF"/>
                </a:solidFill>
                <a:latin typeface="Leroy Merlin Sans"/>
                <a:ea typeface="Leroy Merlin Sans"/>
                <a:cs typeface="Leroy Merlin Sans"/>
                <a:sym typeface="Leroy Merlin Sans"/>
                <a:hlinkClick r:id="rId6">
                  <a:extLst>
                    <a:ext uri="{A12FA001-AC4F-418D-AE19-62706E023703}">
                      <ahyp:hlinkClr val="tx"/>
                    </a:ext>
                  </a:extLst>
                </a:hlinkClick>
              </a:rPr>
              <a:t>“Integração via API”</a:t>
            </a:r>
            <a:endParaRPr sz="2100">
              <a:solidFill>
                <a:srgbClr val="0000FF"/>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2100">
                <a:solidFill>
                  <a:schemeClr val="dk2"/>
                </a:solidFill>
                <a:latin typeface="Leroy Merlin Sans"/>
                <a:ea typeface="Leroy Merlin Sans"/>
                <a:cs typeface="Leroy Merlin Sans"/>
                <a:sym typeface="Leroy Merlin Sans"/>
              </a:rPr>
              <a:t>	Caso seja sua primeira integração de API, selecione a opção “</a:t>
            </a:r>
            <a:r>
              <a:rPr b="1" lang="en-BR" sz="2100">
                <a:solidFill>
                  <a:schemeClr val="dk2"/>
                </a:solidFill>
                <a:latin typeface="Leroy Merlin Sans"/>
                <a:ea typeface="Leroy Merlin Sans"/>
                <a:cs typeface="Leroy Merlin Sans"/>
                <a:sym typeface="Leroy Merlin Sans"/>
              </a:rPr>
              <a:t>adição ou remoção de CNPJs no App Consumidor</a:t>
            </a:r>
            <a:r>
              <a:rPr lang="en-BR" sz="2100">
                <a:solidFill>
                  <a:schemeClr val="dk2"/>
                </a:solidFill>
                <a:latin typeface="Leroy Merlin Sans"/>
                <a:ea typeface="Leroy Merlin Sans"/>
                <a:cs typeface="Leroy Merlin Sans"/>
                <a:sym typeface="Leroy Merlin Sans"/>
              </a:rPr>
              <a:t>”</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rPr lang="en-BR" sz="2100">
                <a:solidFill>
                  <a:schemeClr val="dk2"/>
                </a:solidFill>
                <a:latin typeface="Leroy Merlin Sans"/>
                <a:ea typeface="Leroy Merlin Sans"/>
                <a:cs typeface="Leroy Merlin Sans"/>
                <a:sym typeface="Leroy Merlin Sans"/>
              </a:rPr>
              <a:t>	Caso já tenha uma  integração de API, selecione a opção “</a:t>
            </a:r>
            <a:r>
              <a:rPr b="1" lang="en-BR" sz="2100">
                <a:solidFill>
                  <a:schemeClr val="dk2"/>
                </a:solidFill>
                <a:latin typeface="Leroy Merlin Sans"/>
                <a:ea typeface="Leroy Merlin Sans"/>
                <a:cs typeface="Leroy Merlin Sans"/>
                <a:sym typeface="Leroy Merlin Sans"/>
              </a:rPr>
              <a:t>Suporte APIs</a:t>
            </a:r>
            <a:r>
              <a:rPr lang="en-BR" sz="2100">
                <a:solidFill>
                  <a:schemeClr val="dk2"/>
                </a:solidFill>
                <a:latin typeface="Leroy Merlin Sans"/>
                <a:ea typeface="Leroy Merlin Sans"/>
                <a:cs typeface="Leroy Merlin Sans"/>
                <a:sym typeface="Leroy Merlin Sans"/>
              </a:rPr>
              <a:t>”</a:t>
            </a:r>
            <a:endParaRPr sz="2600">
              <a:solidFill>
                <a:schemeClr val="dk2"/>
              </a:solidFill>
              <a:latin typeface="Leroy Merlin Sans"/>
              <a:ea typeface="Leroy Merlin Sans"/>
              <a:cs typeface="Leroy Merlin Sans"/>
              <a:sym typeface="Leroy Merlin Sans"/>
            </a:endParaRPr>
          </a:p>
        </p:txBody>
      </p:sp>
      <p:sp>
        <p:nvSpPr>
          <p:cNvPr id="224" name="Google Shape;224;g1ec505ed67e_0_806"/>
          <p:cNvSpPr txBox="1"/>
          <p:nvPr/>
        </p:nvSpPr>
        <p:spPr>
          <a:xfrm>
            <a:off x="736125" y="1920150"/>
            <a:ext cx="10871700" cy="787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lang="en-BR" sz="2100">
                <a:solidFill>
                  <a:schemeClr val="accent6"/>
                </a:solidFill>
                <a:latin typeface="Leroy Merlin Sans"/>
                <a:ea typeface="Leroy Merlin Sans"/>
                <a:cs typeface="Leroy Merlin Sans"/>
                <a:sym typeface="Leroy Merlin Sans"/>
              </a:rPr>
              <a:t>Acesse a documentação técnica (</a:t>
            </a:r>
            <a:r>
              <a:rPr lang="en-BR" sz="2100" u="sng">
                <a:solidFill>
                  <a:schemeClr val="hlink"/>
                </a:solidFill>
                <a:latin typeface="Leroy Merlin Sans"/>
                <a:ea typeface="Leroy Merlin Sans"/>
                <a:cs typeface="Leroy Merlin Sans"/>
                <a:sym typeface="Leroy Merlin Sans"/>
                <a:hlinkClick r:id="rId7"/>
              </a:rPr>
              <a:t>swagger API Product</a:t>
            </a:r>
            <a:r>
              <a:rPr lang="en-BR" sz="2100">
                <a:solidFill>
                  <a:schemeClr val="accent6"/>
                </a:solidFill>
                <a:latin typeface="Leroy Merlin Sans"/>
                <a:ea typeface="Leroy Merlin Sans"/>
                <a:cs typeface="Leroy Merlin Sans"/>
                <a:sym typeface="Leroy Merlin Sans"/>
              </a:rPr>
              <a:t>) e entenda a viabilidade junto ao seu time técnico ou integradora</a:t>
            </a:r>
            <a:endParaRPr sz="2600">
              <a:solidFill>
                <a:schemeClr val="accent6"/>
              </a:solidFill>
              <a:latin typeface="Leroy Merlin Sans"/>
              <a:ea typeface="Leroy Merlin Sans"/>
              <a:cs typeface="Leroy Merlin Sans"/>
              <a:sym typeface="Leroy Merli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8" name="Shape 228"/>
        <p:cNvGrpSpPr/>
        <p:nvPr/>
      </p:nvGrpSpPr>
      <p:grpSpPr>
        <a:xfrm>
          <a:off x="0" y="0"/>
          <a:ext cx="0" cy="0"/>
          <a:chOff x="0" y="0"/>
          <a:chExt cx="0" cy="0"/>
        </a:xfrm>
      </p:grpSpPr>
      <p:sp>
        <p:nvSpPr>
          <p:cNvPr id="229" name="Google Shape;229;g1ec505ed67e_0_912"/>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230" name="Google Shape;230;g1ec505ed67e_0_912"/>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231" name="Google Shape;231;g1ec505ed67e_0_912"/>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32" name="Google Shape;232;g1ec505ed67e_0_912"/>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pic>
        <p:nvPicPr>
          <p:cNvPr id="233" name="Google Shape;233;g1ec505ed67e_0_912"/>
          <p:cNvPicPr preferRelativeResize="0"/>
          <p:nvPr/>
        </p:nvPicPr>
        <p:blipFill>
          <a:blip r:embed="rId5">
            <a:alphaModFix/>
          </a:blip>
          <a:stretch>
            <a:fillRect/>
          </a:stretch>
        </p:blipFill>
        <p:spPr>
          <a:xfrm>
            <a:off x="5570113" y="1865283"/>
            <a:ext cx="1051775" cy="1051766"/>
          </a:xfrm>
          <a:prstGeom prst="rect">
            <a:avLst/>
          </a:prstGeom>
          <a:noFill/>
          <a:ln>
            <a:noFill/>
          </a:ln>
        </p:spPr>
      </p:pic>
      <p:pic>
        <p:nvPicPr>
          <p:cNvPr id="234" name="Google Shape;234;g1ec505ed67e_0_912"/>
          <p:cNvPicPr preferRelativeResize="0"/>
          <p:nvPr/>
        </p:nvPicPr>
        <p:blipFill>
          <a:blip r:embed="rId6">
            <a:alphaModFix/>
          </a:blip>
          <a:stretch>
            <a:fillRect/>
          </a:stretch>
        </p:blipFill>
        <p:spPr>
          <a:xfrm>
            <a:off x="1712913" y="1865283"/>
            <a:ext cx="1051775" cy="1051766"/>
          </a:xfrm>
          <a:prstGeom prst="rect">
            <a:avLst/>
          </a:prstGeom>
          <a:noFill/>
          <a:ln>
            <a:noFill/>
          </a:ln>
        </p:spPr>
      </p:pic>
      <p:pic>
        <p:nvPicPr>
          <p:cNvPr id="235" name="Google Shape;235;g1ec505ed67e_0_912"/>
          <p:cNvPicPr preferRelativeResize="0"/>
          <p:nvPr/>
        </p:nvPicPr>
        <p:blipFill>
          <a:blip r:embed="rId7">
            <a:alphaModFix/>
          </a:blip>
          <a:stretch>
            <a:fillRect/>
          </a:stretch>
        </p:blipFill>
        <p:spPr>
          <a:xfrm>
            <a:off x="9353450" y="1865283"/>
            <a:ext cx="1051775" cy="1051766"/>
          </a:xfrm>
          <a:prstGeom prst="rect">
            <a:avLst/>
          </a:prstGeom>
          <a:noFill/>
          <a:ln>
            <a:noFill/>
          </a:ln>
        </p:spPr>
      </p:pic>
      <p:sp>
        <p:nvSpPr>
          <p:cNvPr id="236" name="Google Shape;236;g1ec505ed67e_0_912"/>
          <p:cNvSpPr txBox="1"/>
          <p:nvPr/>
        </p:nvSpPr>
        <p:spPr>
          <a:xfrm>
            <a:off x="1148050" y="3021425"/>
            <a:ext cx="20205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API Produto</a:t>
            </a:r>
            <a:endParaRPr sz="2600">
              <a:solidFill>
                <a:schemeClr val="lt2"/>
              </a:solidFill>
              <a:latin typeface="Leroy Merlin Sans"/>
              <a:ea typeface="Leroy Merlin Sans"/>
              <a:cs typeface="Leroy Merlin Sans"/>
              <a:sym typeface="Leroy Merlin Sans"/>
            </a:endParaRPr>
          </a:p>
        </p:txBody>
      </p:sp>
      <p:sp>
        <p:nvSpPr>
          <p:cNvPr id="237" name="Google Shape;237;g1ec505ed67e_0_912"/>
          <p:cNvSpPr txBox="1"/>
          <p:nvPr/>
        </p:nvSpPr>
        <p:spPr>
          <a:xfrm>
            <a:off x="5085763" y="3021425"/>
            <a:ext cx="20205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API Estoque</a:t>
            </a:r>
            <a:endParaRPr sz="2600">
              <a:solidFill>
                <a:schemeClr val="lt2"/>
              </a:solidFill>
              <a:latin typeface="Leroy Merlin Sans"/>
              <a:ea typeface="Leroy Merlin Sans"/>
              <a:cs typeface="Leroy Merlin Sans"/>
              <a:sym typeface="Leroy Merlin Sans"/>
            </a:endParaRPr>
          </a:p>
        </p:txBody>
      </p:sp>
      <p:sp>
        <p:nvSpPr>
          <p:cNvPr id="238" name="Google Shape;238;g1ec505ed67e_0_912"/>
          <p:cNvSpPr txBox="1"/>
          <p:nvPr/>
        </p:nvSpPr>
        <p:spPr>
          <a:xfrm>
            <a:off x="8942975" y="3021425"/>
            <a:ext cx="20205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lang="en-BR" sz="2600">
                <a:solidFill>
                  <a:schemeClr val="lt2"/>
                </a:solidFill>
                <a:latin typeface="Leroy Merlin Sans"/>
                <a:ea typeface="Leroy Merlin Sans"/>
                <a:cs typeface="Leroy Merlin Sans"/>
                <a:sym typeface="Leroy Merlin Sans"/>
              </a:rPr>
              <a:t>API Pedidos</a:t>
            </a:r>
            <a:endParaRPr sz="2600">
              <a:solidFill>
                <a:schemeClr val="lt2"/>
              </a:solidFill>
              <a:latin typeface="Leroy Merlin Sans"/>
              <a:ea typeface="Leroy Merlin Sans"/>
              <a:cs typeface="Leroy Merlin Sans"/>
              <a:sym typeface="Leroy Merlin Sans"/>
            </a:endParaRPr>
          </a:p>
        </p:txBody>
      </p:sp>
      <p:sp>
        <p:nvSpPr>
          <p:cNvPr id="239" name="Google Shape;239;g1ec505ed67e_0_912"/>
          <p:cNvSpPr txBox="1"/>
          <p:nvPr/>
        </p:nvSpPr>
        <p:spPr>
          <a:xfrm>
            <a:off x="791438" y="3928538"/>
            <a:ext cx="2894700" cy="25551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800"/>
              <a:buFont typeface="Arial"/>
              <a:buNone/>
            </a:pPr>
            <a:r>
              <a:rPr lang="en-BR" sz="1600">
                <a:solidFill>
                  <a:schemeClr val="lt2"/>
                </a:solidFill>
                <a:latin typeface="Leroy Merlin Sans"/>
                <a:ea typeface="Leroy Merlin Sans"/>
                <a:cs typeface="Leroy Merlin Sans"/>
                <a:sym typeface="Leroy Merlin Sans"/>
              </a:rPr>
              <a:t>Entenda como seus produtos estão cadastrados na Leroy Merlin.</a:t>
            </a:r>
            <a:br>
              <a:rPr lang="en-BR" sz="1600">
                <a:solidFill>
                  <a:schemeClr val="lt2"/>
                </a:solidFill>
                <a:latin typeface="Leroy Merlin Sans"/>
                <a:ea typeface="Leroy Merlin Sans"/>
                <a:cs typeface="Leroy Merlin Sans"/>
                <a:sym typeface="Leroy Merlin Sans"/>
              </a:rPr>
            </a:br>
            <a:endParaRPr sz="1600">
              <a:solidFill>
                <a:schemeClr val="lt2"/>
              </a:solidFill>
              <a:latin typeface="Leroy Merlin Sans"/>
              <a:ea typeface="Leroy Merlin Sans"/>
              <a:cs typeface="Leroy Merlin Sans"/>
              <a:sym typeface="Leroy Merlin Sans"/>
            </a:endParaRPr>
          </a:p>
          <a:p>
            <a:pPr indent="0" lvl="0" marL="0" marR="0" rtl="0" algn="ctr">
              <a:lnSpc>
                <a:spcPct val="150000"/>
              </a:lnSpc>
              <a:spcBef>
                <a:spcPts val="0"/>
              </a:spcBef>
              <a:spcAft>
                <a:spcPts val="0"/>
              </a:spcAft>
              <a:buClr>
                <a:srgbClr val="000000"/>
              </a:buClr>
              <a:buSzPts val="2800"/>
              <a:buFont typeface="Arial"/>
              <a:buNone/>
            </a:pPr>
            <a:r>
              <a:rPr lang="en-BR" sz="1600">
                <a:solidFill>
                  <a:schemeClr val="lt2"/>
                </a:solidFill>
                <a:latin typeface="Leroy Merlin Sans"/>
                <a:ea typeface="Leroy Merlin Sans"/>
                <a:cs typeface="Leroy Merlin Sans"/>
                <a:sym typeface="Leroy Merlin Sans"/>
              </a:rPr>
              <a:t>Veja quais produtos estão habilitados para receber a informação de estoque VEF.</a:t>
            </a:r>
            <a:endParaRPr sz="1600">
              <a:solidFill>
                <a:schemeClr val="lt2"/>
              </a:solidFill>
              <a:latin typeface="Leroy Merlin Sans"/>
              <a:ea typeface="Leroy Merlin Sans"/>
              <a:cs typeface="Leroy Merlin Sans"/>
              <a:sym typeface="Leroy Merlin Sans"/>
            </a:endParaRPr>
          </a:p>
        </p:txBody>
      </p:sp>
      <p:sp>
        <p:nvSpPr>
          <p:cNvPr id="240" name="Google Shape;240;g1ec505ed67e_0_912"/>
          <p:cNvSpPr txBox="1"/>
          <p:nvPr/>
        </p:nvSpPr>
        <p:spPr>
          <a:xfrm>
            <a:off x="4648650" y="3928538"/>
            <a:ext cx="28947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800"/>
              <a:buFont typeface="Arial"/>
              <a:buNone/>
            </a:pPr>
            <a:r>
              <a:rPr lang="en-BR" sz="1600">
                <a:solidFill>
                  <a:schemeClr val="lt2"/>
                </a:solidFill>
                <a:latin typeface="Leroy Merlin Sans"/>
                <a:ea typeface="Leroy Merlin Sans"/>
                <a:cs typeface="Leroy Merlin Sans"/>
                <a:sym typeface="Leroy Merlin Sans"/>
              </a:rPr>
              <a:t>Envie para as Leroy Merlin as informações o estoque de seus produtos para viabilizar a Venda VEF</a:t>
            </a:r>
            <a:endParaRPr sz="1600">
              <a:solidFill>
                <a:schemeClr val="lt2"/>
              </a:solidFill>
              <a:latin typeface="Leroy Merlin Sans"/>
              <a:ea typeface="Leroy Merlin Sans"/>
              <a:cs typeface="Leroy Merlin Sans"/>
              <a:sym typeface="Leroy Merlin Sans"/>
            </a:endParaRPr>
          </a:p>
        </p:txBody>
      </p:sp>
      <p:sp>
        <p:nvSpPr>
          <p:cNvPr id="241" name="Google Shape;241;g1ec505ed67e_0_912"/>
          <p:cNvSpPr txBox="1"/>
          <p:nvPr/>
        </p:nvSpPr>
        <p:spPr>
          <a:xfrm>
            <a:off x="8505850" y="3928538"/>
            <a:ext cx="28947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800"/>
              <a:buFont typeface="Arial"/>
              <a:buNone/>
            </a:pPr>
            <a:r>
              <a:rPr lang="en-BR" sz="1600">
                <a:solidFill>
                  <a:schemeClr val="lt2"/>
                </a:solidFill>
                <a:latin typeface="Leroy Merlin Sans"/>
                <a:ea typeface="Leroy Merlin Sans"/>
                <a:cs typeface="Leroy Merlin Sans"/>
                <a:sym typeface="Leroy Merlin Sans"/>
              </a:rPr>
              <a:t>Receba os Pedidos de Compra da Leroy Merlin</a:t>
            </a:r>
            <a:endParaRPr sz="1600">
              <a:solidFill>
                <a:schemeClr val="lt2"/>
              </a:solidFill>
              <a:latin typeface="Leroy Merlin Sans"/>
              <a:ea typeface="Leroy Merlin Sans"/>
              <a:cs typeface="Leroy Merlin Sans"/>
              <a:sym typeface="Leroy Merlin Sans"/>
            </a:endParaRPr>
          </a:p>
        </p:txBody>
      </p:sp>
      <p:sp>
        <p:nvSpPr>
          <p:cNvPr id="242" name="Google Shape;242;g1ec505ed67e_0_912"/>
          <p:cNvSpPr txBox="1"/>
          <p:nvPr/>
        </p:nvSpPr>
        <p:spPr>
          <a:xfrm>
            <a:off x="791456" y="363750"/>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lt2"/>
                </a:solidFill>
                <a:latin typeface="Leroy Merlin Sans"/>
                <a:ea typeface="Leroy Merlin Sans"/>
                <a:cs typeface="Leroy Merlin Sans"/>
                <a:sym typeface="Leroy Merlin Sans"/>
              </a:rPr>
              <a:t>Integralção completa</a:t>
            </a:r>
            <a:endParaRPr b="0" i="0" sz="1400" u="none" cap="none" strike="noStrike">
              <a:solidFill>
                <a:schemeClr val="lt2"/>
              </a:solidFill>
              <a:latin typeface="Arial"/>
              <a:ea typeface="Arial"/>
              <a:cs typeface="Arial"/>
              <a:sym typeface="Arial"/>
            </a:endParaRPr>
          </a:p>
        </p:txBody>
      </p:sp>
      <p:cxnSp>
        <p:nvCxnSpPr>
          <p:cNvPr id="243" name="Google Shape;243;g1ec505ed67e_0_912"/>
          <p:cNvCxnSpPr>
            <a:stCxn id="234" idx="3"/>
            <a:endCxn id="233" idx="1"/>
          </p:cNvCxnSpPr>
          <p:nvPr/>
        </p:nvCxnSpPr>
        <p:spPr>
          <a:xfrm>
            <a:off x="2764687" y="2391165"/>
            <a:ext cx="2805300" cy="6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44" name="Google Shape;244;g1ec505ed67e_0_912"/>
          <p:cNvCxnSpPr>
            <a:stCxn id="234" idx="3"/>
            <a:endCxn id="233" idx="1"/>
          </p:cNvCxnSpPr>
          <p:nvPr/>
        </p:nvCxnSpPr>
        <p:spPr>
          <a:xfrm>
            <a:off x="2764687" y="2391165"/>
            <a:ext cx="2805300" cy="0"/>
          </a:xfrm>
          <a:prstGeom prst="straightConnector1">
            <a:avLst/>
          </a:prstGeom>
          <a:noFill/>
          <a:ln cap="flat" cmpd="sng" w="28575">
            <a:solidFill>
              <a:schemeClr val="lt2"/>
            </a:solidFill>
            <a:prstDash val="solid"/>
            <a:round/>
            <a:headEnd len="med" w="med" type="none"/>
            <a:tailEnd len="med" w="med" type="triangle"/>
          </a:ln>
        </p:spPr>
      </p:cxnSp>
      <p:cxnSp>
        <p:nvCxnSpPr>
          <p:cNvPr id="245" name="Google Shape;245;g1ec505ed67e_0_912"/>
          <p:cNvCxnSpPr>
            <a:stCxn id="233" idx="3"/>
            <a:endCxn id="235" idx="1"/>
          </p:cNvCxnSpPr>
          <p:nvPr/>
        </p:nvCxnSpPr>
        <p:spPr>
          <a:xfrm>
            <a:off x="6621887" y="2391165"/>
            <a:ext cx="2731500" cy="0"/>
          </a:xfrm>
          <a:prstGeom prst="straightConnector1">
            <a:avLst/>
          </a:prstGeom>
          <a:noFill/>
          <a:ln cap="flat" cmpd="sng" w="28575">
            <a:solidFill>
              <a:schemeClr val="lt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2BF44"/>
        </a:solidFill>
      </p:bgPr>
    </p:bg>
    <p:spTree>
      <p:nvGrpSpPr>
        <p:cNvPr id="249" name="Shape 249"/>
        <p:cNvGrpSpPr/>
        <p:nvPr/>
      </p:nvGrpSpPr>
      <p:grpSpPr>
        <a:xfrm>
          <a:off x="0" y="0"/>
          <a:ext cx="0" cy="0"/>
          <a:chOff x="0" y="0"/>
          <a:chExt cx="0" cy="0"/>
        </a:xfrm>
      </p:grpSpPr>
      <p:sp>
        <p:nvSpPr>
          <p:cNvPr id="250" name="Google Shape;250;g1e24594d039_0_21"/>
          <p:cNvSpPr txBox="1"/>
          <p:nvPr/>
        </p:nvSpPr>
        <p:spPr>
          <a:xfrm>
            <a:off x="1173100" y="1084275"/>
            <a:ext cx="9123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7200">
                <a:solidFill>
                  <a:srgbClr val="EBF1E8"/>
                </a:solidFill>
                <a:latin typeface="Leroy Merlin Sans"/>
                <a:ea typeface="Leroy Merlin Sans"/>
                <a:cs typeface="Leroy Merlin Sans"/>
                <a:sym typeface="Leroy Merlin Sans"/>
              </a:rPr>
              <a:t>Dúvidas</a:t>
            </a:r>
            <a:endParaRPr b="1" i="0" sz="7200" u="none" cap="none" strike="noStrike">
              <a:solidFill>
                <a:srgbClr val="EBF1E8"/>
              </a:solidFill>
              <a:latin typeface="Leroy Merlin Sans"/>
              <a:ea typeface="Leroy Merlin Sans"/>
              <a:cs typeface="Leroy Merlin Sans"/>
              <a:sym typeface="Leroy Merlin Sans"/>
            </a:endParaRPr>
          </a:p>
        </p:txBody>
      </p:sp>
      <p:sp>
        <p:nvSpPr>
          <p:cNvPr id="251" name="Google Shape;251;g1e24594d039_0_21"/>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252" name="Google Shape;252;g1e24594d039_0_21"/>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253" name="Google Shape;253;g1e24594d039_0_21"/>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54" name="Google Shape;254;g1e24594d039_0_21"/>
          <p:cNvSpPr/>
          <p:nvPr/>
        </p:nvSpPr>
        <p:spPr>
          <a:xfrm rot="5400000">
            <a:off x="412350" y="1474275"/>
            <a:ext cx="697800" cy="420600"/>
          </a:xfrm>
          <a:prstGeom prst="triangle">
            <a:avLst>
              <a:gd fmla="val 50000" name="adj"/>
            </a:avLst>
          </a:prstGeom>
          <a:noFill/>
          <a:ln cap="flat" cmpd="sng" w="9525">
            <a:solidFill>
              <a:srgbClr val="D4E2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1e24594d039_0_21"/>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g1ec505ed67e_0_1044"/>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Detalhamento de Campo</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261" name="Google Shape;261;g1ec505ed67e_0_1044"/>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262" name="Google Shape;262;g1ec505ed67e_0_1044"/>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63" name="Google Shape;263;g1ec505ed67e_0_1044"/>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64" name="Google Shape;264;g1ec505ed67e_0_1044"/>
          <p:cNvSpPr txBox="1"/>
          <p:nvPr/>
        </p:nvSpPr>
        <p:spPr>
          <a:xfrm>
            <a:off x="736125" y="2197450"/>
            <a:ext cx="10871700" cy="1902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BR" sz="2100">
                <a:solidFill>
                  <a:schemeClr val="dk2"/>
                </a:solidFill>
                <a:latin typeface="Leroy Merlin Sans"/>
                <a:ea typeface="Leroy Merlin Sans"/>
                <a:cs typeface="Leroy Merlin Sans"/>
                <a:sym typeface="Leroy Merlin Sans"/>
              </a:rPr>
              <a:t>Estão na documentação (swagger):</a:t>
            </a:r>
            <a:br>
              <a:rPr lang="en-BR" sz="2100">
                <a:solidFill>
                  <a:schemeClr val="dk2"/>
                </a:solidFill>
                <a:latin typeface="Leroy Merlin Sans"/>
                <a:ea typeface="Leroy Merlin Sans"/>
                <a:cs typeface="Leroy Merlin Sans"/>
                <a:sym typeface="Leroy Merlin Sans"/>
              </a:rPr>
            </a:br>
            <a:br>
              <a:rPr lang="en-BR" sz="2100">
                <a:solidFill>
                  <a:schemeClr val="dk2"/>
                </a:solidFill>
                <a:latin typeface="Leroy Merlin Sans"/>
                <a:ea typeface="Leroy Merlin Sans"/>
                <a:cs typeface="Leroy Merlin Sans"/>
                <a:sym typeface="Leroy Merlin Sans"/>
              </a:rPr>
            </a:br>
            <a:r>
              <a:rPr lang="en-BR" sz="2100" u="sng">
                <a:solidFill>
                  <a:schemeClr val="hlink"/>
                </a:solidFill>
                <a:latin typeface="Leroy Merlin Sans"/>
                <a:ea typeface="Leroy Merlin Sans"/>
                <a:cs typeface="Leroy Merlin Sans"/>
                <a:sym typeface="Leroy Merlin Sans"/>
                <a:hlinkClick r:id="rId5"/>
              </a:rPr>
              <a:t>API Pedidos</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2100" u="sng">
                <a:solidFill>
                  <a:schemeClr val="hlink"/>
                </a:solidFill>
                <a:latin typeface="Leroy Merlin Sans"/>
                <a:ea typeface="Leroy Merlin Sans"/>
                <a:cs typeface="Leroy Merlin Sans"/>
                <a:sym typeface="Leroy Merlin Sans"/>
                <a:hlinkClick r:id="rId6"/>
              </a:rPr>
              <a:t>API Estoque</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2100" u="sng">
                <a:solidFill>
                  <a:schemeClr val="hlink"/>
                </a:solidFill>
                <a:latin typeface="Leroy Merlin Sans"/>
                <a:ea typeface="Leroy Merlin Sans"/>
                <a:cs typeface="Leroy Merlin Sans"/>
                <a:sym typeface="Leroy Merlin Sans"/>
                <a:hlinkClick r:id="rId7"/>
              </a:rPr>
              <a:t>API Produtos</a:t>
            </a:r>
            <a:endParaRPr sz="21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g1ff8951109d_0_10"/>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Como acessar a  API?</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270" name="Google Shape;270;g1ff8951109d_0_10"/>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271" name="Google Shape;271;g1ff8951109d_0_10"/>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72" name="Google Shape;272;g1ff8951109d_0_10"/>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73" name="Google Shape;273;g1ff8951109d_0_10"/>
          <p:cNvSpPr txBox="1"/>
          <p:nvPr/>
        </p:nvSpPr>
        <p:spPr>
          <a:xfrm>
            <a:off x="736125" y="1642225"/>
            <a:ext cx="10871700" cy="522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As APIs de fornecedores são APIs no modelo REST e são acessíveis via requisição HTTP, de acordo com o acesso de cada um dos fornecedores. </a:t>
            </a:r>
            <a:endParaRPr sz="13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É fornecido então uma URL onde o fornecedor pode realizar a chamada passando os devidos parâmetros e então receberá o resultado correto.</a:t>
            </a:r>
            <a:endParaRPr sz="1300">
              <a:solidFill>
                <a:schemeClr val="dk2"/>
              </a:solidFill>
              <a:latin typeface="Leroy Merlin Sans"/>
              <a:ea typeface="Leroy Merlin Sans"/>
              <a:cs typeface="Leroy Merlin Sans"/>
              <a:sym typeface="Leroy Merlin Sans"/>
            </a:endParaRPr>
          </a:p>
        </p:txBody>
      </p:sp>
      <p:sp>
        <p:nvSpPr>
          <p:cNvPr id="274" name="Google Shape;274;g1ff8951109d_0_10"/>
          <p:cNvSpPr txBox="1"/>
          <p:nvPr/>
        </p:nvSpPr>
        <p:spPr>
          <a:xfrm>
            <a:off x="660150" y="2393150"/>
            <a:ext cx="3312600" cy="37443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BR" sz="1300">
                <a:solidFill>
                  <a:schemeClr val="dk2"/>
                </a:solidFill>
                <a:latin typeface="Leroy Merlin Sans"/>
                <a:ea typeface="Leroy Merlin Sans"/>
                <a:cs typeface="Leroy Merlin Sans"/>
                <a:sym typeface="Leroy Merlin Sans"/>
              </a:rPr>
              <a:t>API Pedidos: </a:t>
            </a:r>
            <a:br>
              <a:rPr lang="en-BR" sz="1300">
                <a:solidFill>
                  <a:schemeClr val="dk2"/>
                </a:solidFill>
                <a:latin typeface="Leroy Merlin Sans"/>
                <a:ea typeface="Leroy Merlin Sans"/>
                <a:cs typeface="Leroy Merlin Sans"/>
                <a:sym typeface="Leroy Merlin Sans"/>
              </a:rPr>
            </a:br>
            <a:r>
              <a:rPr lang="en-BR" sz="1300">
                <a:solidFill>
                  <a:schemeClr val="dk2"/>
                </a:solidFill>
                <a:latin typeface="Leroy Merlin Sans"/>
                <a:ea typeface="Leroy Merlin Sans"/>
                <a:cs typeface="Leroy Merlin Sans"/>
                <a:sym typeface="Leroy Merlin Sans"/>
              </a:rPr>
              <a:t>Integração deve bater em nossa API e LM retornar os pedidos</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Link da API de pedidos: https://api.leroymerlin.com.br/v1/orders</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Abaixo, um exemplo de como chamar a API</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https://api.leroymerlin.com.br/v1/orders/purchase/ordersByFiscalID/&lt;CNPJ do Fornecedor&gt;</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p:txBody>
      </p:sp>
      <p:sp>
        <p:nvSpPr>
          <p:cNvPr id="275" name="Google Shape;275;g1ff8951109d_0_10"/>
          <p:cNvSpPr txBox="1"/>
          <p:nvPr/>
        </p:nvSpPr>
        <p:spPr>
          <a:xfrm>
            <a:off x="4522350" y="2393160"/>
            <a:ext cx="3147300" cy="30537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BR" sz="1300">
                <a:solidFill>
                  <a:schemeClr val="dk2"/>
                </a:solidFill>
                <a:latin typeface="Leroy Merlin Sans"/>
                <a:ea typeface="Leroy Merlin Sans"/>
                <a:cs typeface="Leroy Merlin Sans"/>
                <a:sym typeface="Leroy Merlin Sans"/>
              </a:rPr>
              <a:t>API Estoque: </a:t>
            </a:r>
            <a:br>
              <a:rPr b="1" lang="en-BR" sz="1300">
                <a:solidFill>
                  <a:schemeClr val="dk2"/>
                </a:solidFill>
                <a:latin typeface="Leroy Merlin Sans"/>
                <a:ea typeface="Leroy Merlin Sans"/>
                <a:cs typeface="Leroy Merlin Sans"/>
                <a:sym typeface="Leroy Merlin Sans"/>
              </a:rPr>
            </a:br>
            <a:r>
              <a:rPr lang="en-BR" sz="1300">
                <a:solidFill>
                  <a:schemeClr val="dk2"/>
                </a:solidFill>
                <a:latin typeface="Leroy Merlin Sans"/>
                <a:ea typeface="Leroy Merlin Sans"/>
                <a:cs typeface="Leroy Merlin Sans"/>
                <a:sym typeface="Leroy Merlin Sans"/>
              </a:rPr>
              <a:t>Fornecedor envia informação de estoque para a Leroy consultar</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Link da API de Stock : https://api-sit.leroymerlin.com.br/v1/stock.</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 Para que seja recebido o resultado, é necessário chamar com o seguinte método: /v1/stock/stockLevel, que pede 2 parâmetros obrigatórios, locationId e productId.</a:t>
            </a:r>
            <a:endParaRPr sz="1300">
              <a:solidFill>
                <a:schemeClr val="dk2"/>
              </a:solidFill>
              <a:latin typeface="Leroy Merlin Sans"/>
              <a:ea typeface="Leroy Merlin Sans"/>
              <a:cs typeface="Leroy Merlin Sans"/>
              <a:sym typeface="Leroy Merlin Sans"/>
            </a:endParaRPr>
          </a:p>
        </p:txBody>
      </p:sp>
      <p:sp>
        <p:nvSpPr>
          <p:cNvPr id="276" name="Google Shape;276;g1ff8951109d_0_10"/>
          <p:cNvSpPr txBox="1"/>
          <p:nvPr/>
        </p:nvSpPr>
        <p:spPr>
          <a:xfrm>
            <a:off x="8384550" y="2393160"/>
            <a:ext cx="3147300" cy="23634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BR" sz="1300">
                <a:solidFill>
                  <a:schemeClr val="dk2"/>
                </a:solidFill>
                <a:latin typeface="Leroy Merlin Sans"/>
                <a:ea typeface="Leroy Merlin Sans"/>
                <a:cs typeface="Leroy Merlin Sans"/>
                <a:sym typeface="Leroy Merlin Sans"/>
              </a:rPr>
              <a:t> API Produtos: </a:t>
            </a:r>
            <a:br>
              <a:rPr b="1" lang="en-BR" sz="1300">
                <a:solidFill>
                  <a:schemeClr val="dk2"/>
                </a:solidFill>
                <a:latin typeface="Leroy Merlin Sans"/>
                <a:ea typeface="Leroy Merlin Sans"/>
                <a:cs typeface="Leroy Merlin Sans"/>
                <a:sym typeface="Leroy Merlin Sans"/>
              </a:rPr>
            </a:br>
            <a:r>
              <a:rPr lang="en-BR" sz="1300">
                <a:solidFill>
                  <a:schemeClr val="dk2"/>
                </a:solidFill>
                <a:latin typeface="Leroy Merlin Sans"/>
                <a:ea typeface="Leroy Merlin Sans"/>
                <a:cs typeface="Leroy Merlin Sans"/>
                <a:sym typeface="Leroy Merlin Sans"/>
              </a:rPr>
              <a:t>Fornecedor consome informações sobre o cadastro dos seus produtos</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rPr lang="en-BR" sz="1300">
                <a:solidFill>
                  <a:schemeClr val="dk2"/>
                </a:solidFill>
                <a:latin typeface="Leroy Merlin Sans"/>
                <a:ea typeface="Leroy Merlin Sans"/>
                <a:cs typeface="Leroy Merlin Sans"/>
                <a:sym typeface="Leroy Merlin Sans"/>
              </a:rPr>
              <a:t>Link da API : https://api-sit.leroymerlin.com.br/v1/products.</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a:p>
            <a:pPr indent="0" lvl="0" marL="0" rtl="0" algn="ctr">
              <a:lnSpc>
                <a:spcPct val="115000"/>
              </a:lnSpc>
              <a:spcBef>
                <a:spcPts val="0"/>
              </a:spcBef>
              <a:spcAft>
                <a:spcPts val="0"/>
              </a:spcAft>
              <a:buClr>
                <a:schemeClr val="dk1"/>
              </a:buClr>
              <a:buSzPts val="1100"/>
              <a:buFont typeface="Arial"/>
              <a:buNone/>
            </a:pPr>
            <a:r>
              <a:t/>
            </a:r>
            <a:endParaRPr sz="1300">
              <a:solidFill>
                <a:schemeClr val="dk2"/>
              </a:solidFill>
              <a:latin typeface="Leroy Merlin Sans"/>
              <a:ea typeface="Leroy Merlin Sans"/>
              <a:cs typeface="Leroy Merlin Sans"/>
              <a:sym typeface="Leroy Merlin Sans"/>
            </a:endParaRPr>
          </a:p>
        </p:txBody>
      </p:sp>
      <p:sp>
        <p:nvSpPr>
          <p:cNvPr id="277" name="Google Shape;277;g1ff8951109d_0_10"/>
          <p:cNvSpPr txBox="1"/>
          <p:nvPr/>
        </p:nvSpPr>
        <p:spPr>
          <a:xfrm>
            <a:off x="1081575" y="5675175"/>
            <a:ext cx="10415100" cy="5226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BR" sz="1300">
                <a:solidFill>
                  <a:schemeClr val="dk2"/>
                </a:solidFill>
                <a:latin typeface="Leroy Merlin Sans"/>
                <a:ea typeface="Leroy Merlin Sans"/>
                <a:cs typeface="Leroy Merlin Sans"/>
                <a:sym typeface="Leroy Merlin Sans"/>
              </a:rPr>
              <a:t>Lembrando que é necessário possuir </a:t>
            </a:r>
            <a:r>
              <a:rPr b="1" lang="en-BR" sz="1300">
                <a:solidFill>
                  <a:schemeClr val="dk2"/>
                </a:solidFill>
                <a:highlight>
                  <a:srgbClr val="B6D7A8"/>
                </a:highlight>
                <a:latin typeface="Leroy Merlin Sans"/>
                <a:ea typeface="Leroy Merlin Sans"/>
                <a:cs typeface="Leroy Merlin Sans"/>
                <a:sym typeface="Leroy Merlin Sans"/>
              </a:rPr>
              <a:t>liberação </a:t>
            </a:r>
            <a:r>
              <a:rPr b="1" lang="en-BR" sz="1300">
                <a:solidFill>
                  <a:schemeClr val="dk2"/>
                </a:solidFill>
                <a:latin typeface="Leroy Merlin Sans"/>
                <a:ea typeface="Leroy Merlin Sans"/>
                <a:cs typeface="Leroy Merlin Sans"/>
                <a:sym typeface="Leroy Merlin Sans"/>
              </a:rPr>
              <a:t>e enviar nos 'header parameters' a chave de API de autenticação. Todos os métodos disponíveis estão no Swagger da API já informado anteriormente.</a:t>
            </a:r>
            <a:endParaRPr b="1" sz="13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g1ff8951109d_0_0"/>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Dificuldade em abrir o swagger</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283" name="Google Shape;283;g1ff8951109d_0_0"/>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284" name="Google Shape;284;g1ff8951109d_0_0"/>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85" name="Google Shape;285;g1ff8951109d_0_0"/>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86" name="Google Shape;286;g1ff8951109d_0_0"/>
          <p:cNvSpPr txBox="1"/>
          <p:nvPr/>
        </p:nvSpPr>
        <p:spPr>
          <a:xfrm>
            <a:off x="736125" y="2197450"/>
            <a:ext cx="10871700" cy="1158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BR" sz="2100">
                <a:solidFill>
                  <a:schemeClr val="dk2"/>
                </a:solidFill>
                <a:latin typeface="Leroy Merlin Sans"/>
                <a:ea typeface="Leroy Merlin Sans"/>
                <a:cs typeface="Leroy Merlin Sans"/>
                <a:sym typeface="Leroy Merlin Sans"/>
              </a:rPr>
              <a:t>Basta Copiar o conteúdo e jogar nesse site: </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2100" u="sng">
                <a:solidFill>
                  <a:schemeClr val="hlink"/>
                </a:solidFill>
                <a:latin typeface="Leroy Merlin Sans"/>
                <a:ea typeface="Leroy Merlin Sans"/>
                <a:cs typeface="Leroy Merlin Sans"/>
                <a:sym typeface="Leroy Merlin Sans"/>
                <a:hlinkClick r:id="rId5"/>
              </a:rPr>
              <a:t>https://editor.swagger.io/</a:t>
            </a:r>
            <a:endParaRPr sz="21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0" name="Shape 290"/>
        <p:cNvGrpSpPr/>
        <p:nvPr/>
      </p:nvGrpSpPr>
      <p:grpSpPr>
        <a:xfrm>
          <a:off x="0" y="0"/>
          <a:ext cx="0" cy="0"/>
          <a:chOff x="0" y="0"/>
          <a:chExt cx="0" cy="0"/>
        </a:xfrm>
      </p:grpSpPr>
      <p:sp>
        <p:nvSpPr>
          <p:cNvPr id="291" name="Google Shape;291;g1ec505ed67e_0_1055"/>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 Qual o formato de arquivo?</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292" name="Google Shape;292;g1ec505ed67e_0_1055"/>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293" name="Google Shape;293;g1ec505ed67e_0_1055"/>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294" name="Google Shape;294;g1ec505ed67e_0_1055"/>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295" name="Google Shape;295;g1ec505ed67e_0_1055"/>
          <p:cNvSpPr txBox="1"/>
          <p:nvPr/>
        </p:nvSpPr>
        <p:spPr>
          <a:xfrm>
            <a:off x="736125" y="2197450"/>
            <a:ext cx="10871700" cy="2646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BR" sz="2100">
                <a:solidFill>
                  <a:schemeClr val="dk2"/>
                </a:solidFill>
                <a:latin typeface="Leroy Merlin Sans"/>
                <a:ea typeface="Leroy Merlin Sans"/>
                <a:cs typeface="Leroy Merlin Sans"/>
                <a:sym typeface="Leroy Merlin Sans"/>
              </a:rPr>
              <a:t>Não existe arquivo. Os dados são trafegados em formato de texto, mais especificamente JSON, seja no recebimento, seja nas respostas das chamadas das APIs.</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21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2100">
                <a:solidFill>
                  <a:schemeClr val="dk2"/>
                </a:solidFill>
                <a:latin typeface="Leroy Merlin Sans"/>
                <a:ea typeface="Leroy Merlin Sans"/>
                <a:cs typeface="Leroy Merlin Sans"/>
                <a:sym typeface="Leroy Merlin Sans"/>
              </a:rPr>
              <a:t>Para facilitar o processo o Fornecedor pode contratar uma integradora de sistemas. Ela </a:t>
            </a:r>
            <a:r>
              <a:rPr lang="en-BR" sz="2100">
                <a:solidFill>
                  <a:schemeClr val="dk2"/>
                </a:solidFill>
                <a:latin typeface="Leroy Merlin Sans"/>
                <a:ea typeface="Leroy Merlin Sans"/>
                <a:cs typeface="Leroy Merlin Sans"/>
                <a:sym typeface="Leroy Merlin Sans"/>
              </a:rPr>
              <a:t>costuma</a:t>
            </a:r>
            <a:r>
              <a:rPr lang="en-BR" sz="2100">
                <a:solidFill>
                  <a:schemeClr val="dk2"/>
                </a:solidFill>
                <a:latin typeface="Leroy Merlin Sans"/>
                <a:ea typeface="Leroy Merlin Sans"/>
                <a:cs typeface="Leroy Merlin Sans"/>
                <a:sym typeface="Leroy Merlin Sans"/>
              </a:rPr>
              <a:t> desenvolver  um “painel” ou “upload” de planilha para integração do estoque</a:t>
            </a:r>
            <a:endParaRPr sz="21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21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g1ec505ed67e_0_1074"/>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chemeClr val="dk2"/>
                </a:solidFill>
                <a:latin typeface="Leroy Merlin Sans"/>
                <a:ea typeface="Leroy Merlin Sans"/>
                <a:cs typeface="Leroy Merlin Sans"/>
                <a:sym typeface="Leroy Merlin Sans"/>
              </a:rPr>
              <a:t>Geração de Token</a:t>
            </a:r>
            <a:endParaRPr b="0" i="0" sz="1400" u="none" cap="none" strike="noStrike">
              <a:solidFill>
                <a:schemeClr val="dk2"/>
              </a:solidFill>
              <a:latin typeface="Arial"/>
              <a:ea typeface="Arial"/>
              <a:cs typeface="Arial"/>
              <a:sym typeface="Arial"/>
            </a:endParaRPr>
          </a:p>
        </p:txBody>
      </p:sp>
      <p:pic>
        <p:nvPicPr>
          <p:cNvPr descr="A picture containing shape&#10;&#10;Description automatically generated" id="301" name="Google Shape;301;g1ec505ed67e_0_1074"/>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302" name="Google Shape;302;g1ec505ed67e_0_1074"/>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303" name="Google Shape;303;g1ec505ed67e_0_1074"/>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304" name="Google Shape;304;g1ec505ed67e_0_1074"/>
          <p:cNvSpPr txBox="1"/>
          <p:nvPr/>
        </p:nvSpPr>
        <p:spPr>
          <a:xfrm>
            <a:off x="736125" y="2197450"/>
            <a:ext cx="10871700" cy="4266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BR" sz="1700">
                <a:solidFill>
                  <a:schemeClr val="dk2"/>
                </a:solidFill>
                <a:latin typeface="Leroy Merlin Sans"/>
                <a:ea typeface="Leroy Merlin Sans"/>
                <a:cs typeface="Leroy Merlin Sans"/>
                <a:sym typeface="Leroy Merlin Sans"/>
              </a:rPr>
              <a:t>Sendo a última etapa, realizada junto com a Leroy,a forma de acesso das APIs são através de chave de acesso. Sempre que um fornecedor for devidamente cadastrado em nossa base, será fornecido um parâmetro de chave de API, que sempre deve ser enviado nos 'header parameters' das chamadas, segue um exemplo abaixo:</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1700">
                <a:solidFill>
                  <a:schemeClr val="dk2"/>
                </a:solidFill>
                <a:latin typeface="Leroy Merlin Sans"/>
                <a:ea typeface="Leroy Merlin Sans"/>
                <a:cs typeface="Leroy Merlin Sans"/>
                <a:sym typeface="Leroy Merlin Sans"/>
              </a:rPr>
              <a:t>curl --location</a:t>
            </a:r>
            <a:r>
              <a:rPr lang="en-BR" sz="1700">
                <a:solidFill>
                  <a:schemeClr val="dk2"/>
                </a:solidFill>
                <a:latin typeface="Leroy Merlin Sans"/>
                <a:ea typeface="Leroy Merlin Sans"/>
                <a:cs typeface="Leroy Merlin Sans"/>
                <a:sym typeface="Leroy Merlin Sans"/>
              </a:rPr>
              <a:t> '</a:t>
            </a:r>
            <a:r>
              <a:rPr lang="en-BR" sz="1700">
                <a:solidFill>
                  <a:schemeClr val="dk2"/>
                </a:solidFill>
                <a:latin typeface="Leroy Merlin Sans"/>
                <a:ea typeface="Leroy Merlin Sans"/>
                <a:cs typeface="Leroy Merlin Sans"/>
                <a:sym typeface="Leroy Merlin Sans"/>
              </a:rPr>
              <a:t>https://api.leroymerlin.com.br/v1/orders/purchase/ordersByFiscalID/&lt;CNPJ FORNECEDOR&gt;?orderNumber=&lt;NUMERO DE ORDEM&gt;' \</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1700">
                <a:solidFill>
                  <a:schemeClr val="dk2"/>
                </a:solidFill>
                <a:latin typeface="Leroy Merlin Sans"/>
                <a:ea typeface="Leroy Merlin Sans"/>
                <a:cs typeface="Leroy Merlin Sans"/>
                <a:sym typeface="Leroy Merlin Sans"/>
              </a:rPr>
              <a:t>--header 'apiKey: &lt;CHAVE DE ACESSO SECRETA&gt;'</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rPr lang="en-BR" sz="1700">
                <a:solidFill>
                  <a:schemeClr val="dk2"/>
                </a:solidFill>
                <a:latin typeface="Leroy Merlin Sans"/>
                <a:ea typeface="Leroy Merlin Sans"/>
                <a:cs typeface="Leroy Merlin Sans"/>
                <a:sym typeface="Leroy Merlin Sans"/>
              </a:rPr>
              <a:t>Lembrando que se trata de um </a:t>
            </a:r>
            <a:r>
              <a:rPr b="1" lang="en-BR" sz="1700">
                <a:solidFill>
                  <a:schemeClr val="dk2"/>
                </a:solidFill>
                <a:latin typeface="Leroy Merlin Sans"/>
                <a:ea typeface="Leroy Merlin Sans"/>
                <a:cs typeface="Leroy Merlin Sans"/>
                <a:sym typeface="Leroy Merlin Sans"/>
              </a:rPr>
              <a:t>dado extremamente sensível </a:t>
            </a:r>
            <a:r>
              <a:rPr lang="en-BR" sz="1700">
                <a:solidFill>
                  <a:schemeClr val="dk2"/>
                </a:solidFill>
                <a:latin typeface="Leroy Merlin Sans"/>
                <a:ea typeface="Leroy Merlin Sans"/>
                <a:cs typeface="Leroy Merlin Sans"/>
                <a:sym typeface="Leroy Merlin Sans"/>
              </a:rPr>
              <a:t>e deve ser compartilhado com o mínimo possível de pessoas.</a:t>
            </a:r>
            <a:endParaRPr sz="1700">
              <a:solidFill>
                <a:schemeClr val="dk2"/>
              </a:solidFill>
              <a:latin typeface="Leroy Merlin Sans"/>
              <a:ea typeface="Leroy Merlin Sans"/>
              <a:cs typeface="Leroy Merlin Sans"/>
              <a:sym typeface="Leroy Merlin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2"/>
              </a:solidFill>
              <a:latin typeface="Leroy Merlin Sans"/>
              <a:ea typeface="Leroy Merlin Sans"/>
              <a:cs typeface="Leroy Merlin Sans"/>
              <a:sym typeface="Leroy Merlin Sans"/>
            </a:endParaRPr>
          </a:p>
          <a:p>
            <a:pPr indent="0" lvl="0" marL="0" marR="0" rtl="0" algn="l">
              <a:lnSpc>
                <a:spcPct val="115000"/>
              </a:lnSpc>
              <a:spcBef>
                <a:spcPts val="0"/>
              </a:spcBef>
              <a:spcAft>
                <a:spcPts val="0"/>
              </a:spcAft>
              <a:buClr>
                <a:srgbClr val="000000"/>
              </a:buClr>
              <a:buSzPts val="2800"/>
              <a:buFont typeface="Arial"/>
              <a:buNone/>
            </a:pPr>
            <a:r>
              <a:t/>
            </a:r>
            <a:endParaRPr sz="17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g1ff8951109d_0_33"/>
          <p:cNvSpPr txBox="1"/>
          <p:nvPr/>
        </p:nvSpPr>
        <p:spPr>
          <a:xfrm>
            <a:off x="736131" y="872725"/>
            <a:ext cx="9803700" cy="769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BR" sz="4400">
                <a:solidFill>
                  <a:schemeClr val="dk2"/>
                </a:solidFill>
                <a:latin typeface="Leroy Merlin Sans"/>
                <a:ea typeface="Leroy Merlin Sans"/>
                <a:cs typeface="Leroy Merlin Sans"/>
                <a:sym typeface="Leroy Merlin Sans"/>
              </a:rPr>
              <a:t>Qual a forma de autenticação?</a:t>
            </a:r>
            <a:endParaRPr b="1" sz="4400">
              <a:solidFill>
                <a:schemeClr val="dk2"/>
              </a:solidFill>
              <a:latin typeface="Leroy Merlin Sans"/>
              <a:ea typeface="Leroy Merlin Sans"/>
              <a:cs typeface="Leroy Merlin Sans"/>
              <a:sym typeface="Leroy Merlin Sans"/>
            </a:endParaRPr>
          </a:p>
        </p:txBody>
      </p:sp>
      <p:pic>
        <p:nvPicPr>
          <p:cNvPr descr="A picture containing shape&#10;&#10;Description automatically generated" id="310" name="Google Shape;310;g1ff8951109d_0_33"/>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311" name="Google Shape;311;g1ff8951109d_0_33"/>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312" name="Google Shape;312;g1ff8951109d_0_33"/>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sp>
        <p:nvSpPr>
          <p:cNvPr id="313" name="Google Shape;313;g1ff8951109d_0_33"/>
          <p:cNvSpPr txBox="1"/>
          <p:nvPr/>
        </p:nvSpPr>
        <p:spPr>
          <a:xfrm>
            <a:off x="736125" y="2197450"/>
            <a:ext cx="10871700" cy="955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lang="en-BR" sz="1700">
                <a:solidFill>
                  <a:schemeClr val="dk2"/>
                </a:solidFill>
                <a:latin typeface="Leroy Merlin Sans"/>
                <a:ea typeface="Leroy Merlin Sans"/>
                <a:cs typeface="Leroy Merlin Sans"/>
                <a:sym typeface="Leroy Merlin Sans"/>
              </a:rPr>
              <a:t> A forma de acesso das APIs são através de chave de acesso. Sempre que um fornecedor for devidamente cadastrado em nossa base, será fornecido um parâmetro de chave de API, que sempre deve ser enviado nos 'header parameters' das chamadas, segue um exemplo abaixo:</a:t>
            </a:r>
            <a:endParaRPr sz="1700">
              <a:solidFill>
                <a:schemeClr val="dk2"/>
              </a:solidFill>
              <a:latin typeface="Leroy Merlin Sans"/>
              <a:ea typeface="Leroy Merlin Sans"/>
              <a:cs typeface="Leroy Merlin Sans"/>
              <a:sym typeface="Leroy Merli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2BF44"/>
        </a:solidFill>
      </p:bgPr>
    </p:bg>
    <p:spTree>
      <p:nvGrpSpPr>
        <p:cNvPr id="317" name="Shape 317"/>
        <p:cNvGrpSpPr/>
        <p:nvPr/>
      </p:nvGrpSpPr>
      <p:grpSpPr>
        <a:xfrm>
          <a:off x="0" y="0"/>
          <a:ext cx="0" cy="0"/>
          <a:chOff x="0" y="0"/>
          <a:chExt cx="0" cy="0"/>
        </a:xfrm>
      </p:grpSpPr>
      <p:sp>
        <p:nvSpPr>
          <p:cNvPr id="318" name="Google Shape;318;g1ec505ed67e_0_1035"/>
          <p:cNvSpPr txBox="1"/>
          <p:nvPr/>
        </p:nvSpPr>
        <p:spPr>
          <a:xfrm>
            <a:off x="1173100" y="1084275"/>
            <a:ext cx="9123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BR" sz="7200" u="none" cap="none" strike="noStrike">
                <a:solidFill>
                  <a:srgbClr val="EBF1E8"/>
                </a:solidFill>
                <a:latin typeface="Leroy Merlin Sans"/>
                <a:ea typeface="Leroy Merlin Sans"/>
                <a:cs typeface="Leroy Merlin Sans"/>
                <a:sym typeface="Leroy Merlin Sans"/>
              </a:rPr>
              <a:t>Entre em contato</a:t>
            </a:r>
            <a:endParaRPr b="1" i="0" sz="7200" u="none" cap="none" strike="noStrike">
              <a:solidFill>
                <a:srgbClr val="EBF1E8"/>
              </a:solidFill>
              <a:latin typeface="Leroy Merlin Sans"/>
              <a:ea typeface="Leroy Merlin Sans"/>
              <a:cs typeface="Leroy Merlin Sans"/>
              <a:sym typeface="Leroy Merlin Sans"/>
            </a:endParaRPr>
          </a:p>
        </p:txBody>
      </p:sp>
      <p:sp>
        <p:nvSpPr>
          <p:cNvPr id="319" name="Google Shape;319;g1ec505ed67e_0_1035"/>
          <p:cNvSpPr txBox="1"/>
          <p:nvPr/>
        </p:nvSpPr>
        <p:spPr>
          <a:xfrm>
            <a:off x="467496" y="6449401"/>
            <a:ext cx="4074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BR" sz="800" u="none" cap="none" strike="noStrike">
                <a:solidFill>
                  <a:srgbClr val="929292"/>
                </a:solidFill>
                <a:latin typeface="Leroy Merlin Sans"/>
                <a:ea typeface="Leroy Merlin Sans"/>
                <a:cs typeface="Leroy Merlin Sans"/>
                <a:sym typeface="Leroy Merlin Sans"/>
              </a:rPr>
              <a:t>4</a:t>
            </a:r>
            <a:endParaRPr b="0" i="0" sz="1400" u="none" cap="none" strike="noStrike">
              <a:solidFill>
                <a:srgbClr val="929292"/>
              </a:solidFill>
              <a:latin typeface="Arial"/>
              <a:ea typeface="Arial"/>
              <a:cs typeface="Arial"/>
              <a:sym typeface="Arial"/>
            </a:endParaRPr>
          </a:p>
        </p:txBody>
      </p:sp>
      <p:pic>
        <p:nvPicPr>
          <p:cNvPr descr="A picture containing shape&#10;&#10;Description automatically generated" id="320" name="Google Shape;320;g1ec505ed67e_0_1035"/>
          <p:cNvPicPr preferRelativeResize="0"/>
          <p:nvPr/>
        </p:nvPicPr>
        <p:blipFill rotWithShape="1">
          <a:blip r:embed="rId3">
            <a:alphaModFix/>
          </a:blip>
          <a:srcRect b="0" l="0" r="0" t="0"/>
          <a:stretch/>
        </p:blipFill>
        <p:spPr>
          <a:xfrm flipH="1" rot="10800000">
            <a:off x="565980" y="6338016"/>
            <a:ext cx="73328" cy="145638"/>
          </a:xfrm>
          <a:prstGeom prst="rect">
            <a:avLst/>
          </a:prstGeom>
          <a:noFill/>
          <a:ln>
            <a:noFill/>
          </a:ln>
        </p:spPr>
      </p:pic>
      <p:pic>
        <p:nvPicPr>
          <p:cNvPr descr="Logo&#10;&#10;Description automatically generated" id="321" name="Google Shape;321;g1ec505ed67e_0_1035"/>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322" name="Google Shape;322;g1ec505ed67e_0_1035"/>
          <p:cNvSpPr/>
          <p:nvPr/>
        </p:nvSpPr>
        <p:spPr>
          <a:xfrm rot="5400000">
            <a:off x="412350" y="1474275"/>
            <a:ext cx="697800" cy="420600"/>
          </a:xfrm>
          <a:prstGeom prst="triangle">
            <a:avLst>
              <a:gd fmla="val 50000" name="adj"/>
            </a:avLst>
          </a:prstGeom>
          <a:noFill/>
          <a:ln cap="flat" cmpd="sng" w="9525">
            <a:solidFill>
              <a:srgbClr val="D4E2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1ec505ed67e_0_1035"/>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chemeClr val="lt1"/>
                </a:solidFill>
                <a:latin typeface="Leroy Merlin Sans"/>
                <a:ea typeface="Leroy Merlin Sans"/>
                <a:cs typeface="Leroy Merlin Sans"/>
                <a:sym typeface="Leroy Merlin Sans"/>
              </a:rPr>
              <a:t>LEROY MERLIN BRASIL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pic>
        <p:nvPicPr>
          <p:cNvPr descr="A picture containing shape&#10;&#10;Description automatically generated" id="328" name="Google Shape;328;g1ec99e7a8a2_0_99"/>
          <p:cNvPicPr preferRelativeResize="0"/>
          <p:nvPr/>
        </p:nvPicPr>
        <p:blipFill rotWithShape="1">
          <a:blip r:embed="rId3">
            <a:alphaModFix/>
          </a:blip>
          <a:srcRect b="0" l="0" r="0" t="0"/>
          <a:stretch/>
        </p:blipFill>
        <p:spPr>
          <a:xfrm flipH="1" rot="10800000">
            <a:off x="568381" y="381853"/>
            <a:ext cx="428050" cy="759525"/>
          </a:xfrm>
          <a:prstGeom prst="rect">
            <a:avLst/>
          </a:prstGeom>
          <a:noFill/>
          <a:ln>
            <a:noFill/>
          </a:ln>
        </p:spPr>
      </p:pic>
      <p:pic>
        <p:nvPicPr>
          <p:cNvPr descr="Logo&#10;&#10;Description automatically generated" id="329" name="Google Shape;329;g1ec99e7a8a2_0_99"/>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sp>
        <p:nvSpPr>
          <p:cNvPr id="330" name="Google Shape;330;g1ec99e7a8a2_0_99"/>
          <p:cNvSpPr txBox="1"/>
          <p:nvPr/>
        </p:nvSpPr>
        <p:spPr>
          <a:xfrm>
            <a:off x="467496" y="168260"/>
            <a:ext cx="7056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BR" sz="400" u="none" cap="none" strike="noStrike">
                <a:solidFill>
                  <a:srgbClr val="434343"/>
                </a:solidFill>
                <a:latin typeface="Leroy Merlin Sans"/>
                <a:ea typeface="Leroy Merlin Sans"/>
                <a:cs typeface="Leroy Merlin Sans"/>
                <a:sym typeface="Leroy Merlin Sans"/>
              </a:rPr>
              <a:t>LEROY MERLIN BRASIL</a:t>
            </a:r>
            <a:endParaRPr b="0" i="0" sz="1400" u="none" cap="none" strike="noStrike">
              <a:solidFill>
                <a:srgbClr val="434343"/>
              </a:solidFill>
              <a:latin typeface="Arial"/>
              <a:ea typeface="Arial"/>
              <a:cs typeface="Arial"/>
              <a:sym typeface="Arial"/>
            </a:endParaRPr>
          </a:p>
        </p:txBody>
      </p:sp>
      <p:pic>
        <p:nvPicPr>
          <p:cNvPr id="331" name="Google Shape;331;g1ec99e7a8a2_0_99"/>
          <p:cNvPicPr preferRelativeResize="0"/>
          <p:nvPr/>
        </p:nvPicPr>
        <p:blipFill rotWithShape="1">
          <a:blip r:embed="rId5">
            <a:alphaModFix/>
          </a:blip>
          <a:srcRect b="0" l="0" r="0" t="0"/>
          <a:stretch/>
        </p:blipFill>
        <p:spPr>
          <a:xfrm>
            <a:off x="1498119" y="2345194"/>
            <a:ext cx="4796400" cy="3336849"/>
          </a:xfrm>
          <a:prstGeom prst="rect">
            <a:avLst/>
          </a:prstGeom>
          <a:noFill/>
          <a:ln>
            <a:noFill/>
          </a:ln>
        </p:spPr>
      </p:pic>
      <p:sp>
        <p:nvSpPr>
          <p:cNvPr id="332" name="Google Shape;332;g1ec99e7a8a2_0_99"/>
          <p:cNvSpPr txBox="1"/>
          <p:nvPr/>
        </p:nvSpPr>
        <p:spPr>
          <a:xfrm>
            <a:off x="736121" y="872714"/>
            <a:ext cx="4025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BR" sz="4400">
                <a:solidFill>
                  <a:srgbClr val="434343"/>
                </a:solidFill>
                <a:latin typeface="Leroy Merlin Sans"/>
                <a:ea typeface="Leroy Merlin Sans"/>
                <a:cs typeface="Leroy Merlin Sans"/>
                <a:sym typeface="Leroy Merlin Sans"/>
              </a:rPr>
              <a:t>Fale Conosco</a:t>
            </a:r>
            <a:endParaRPr b="0" i="0" sz="1400" u="none" cap="none" strike="noStrike">
              <a:solidFill>
                <a:srgbClr val="434343"/>
              </a:solidFill>
              <a:latin typeface="Arial"/>
              <a:ea typeface="Arial"/>
              <a:cs typeface="Arial"/>
              <a:sym typeface="Arial"/>
            </a:endParaRPr>
          </a:p>
        </p:txBody>
      </p:sp>
      <p:pic>
        <p:nvPicPr>
          <p:cNvPr descr="Logo&#10;&#10;Description automatically generated" id="333" name="Google Shape;333;g1ec99e7a8a2_0_99"/>
          <p:cNvPicPr preferRelativeResize="0"/>
          <p:nvPr/>
        </p:nvPicPr>
        <p:blipFill rotWithShape="1">
          <a:blip r:embed="rId4">
            <a:alphaModFix/>
          </a:blip>
          <a:srcRect b="0" l="0" r="0" t="0"/>
          <a:stretch/>
        </p:blipFill>
        <p:spPr>
          <a:xfrm>
            <a:off x="10812923" y="5899525"/>
            <a:ext cx="1124726" cy="958475"/>
          </a:xfrm>
          <a:prstGeom prst="rect">
            <a:avLst/>
          </a:prstGeom>
          <a:noFill/>
          <a:ln>
            <a:noFill/>
          </a:ln>
        </p:spPr>
      </p:pic>
      <p:pic>
        <p:nvPicPr>
          <p:cNvPr id="334" name="Google Shape;334;g1ec99e7a8a2_0_99"/>
          <p:cNvPicPr preferRelativeResize="0"/>
          <p:nvPr/>
        </p:nvPicPr>
        <p:blipFill rotWithShape="1">
          <a:blip r:embed="rId6">
            <a:alphaModFix/>
          </a:blip>
          <a:srcRect b="0" l="0" r="0" t="0"/>
          <a:stretch/>
        </p:blipFill>
        <p:spPr>
          <a:xfrm>
            <a:off x="6705075" y="3722050"/>
            <a:ext cx="1455802" cy="923400"/>
          </a:xfrm>
          <a:prstGeom prst="rect">
            <a:avLst/>
          </a:prstGeom>
          <a:noFill/>
          <a:ln>
            <a:noFill/>
          </a:ln>
        </p:spPr>
      </p:pic>
      <p:sp>
        <p:nvSpPr>
          <p:cNvPr id="335" name="Google Shape;335;g1ec99e7a8a2_0_99"/>
          <p:cNvSpPr txBox="1"/>
          <p:nvPr/>
        </p:nvSpPr>
        <p:spPr>
          <a:xfrm>
            <a:off x="917925" y="1741925"/>
            <a:ext cx="10117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BR" sz="1400" u="none" cap="none" strike="noStrike">
                <a:solidFill>
                  <a:srgbClr val="44546A"/>
                </a:solidFill>
                <a:latin typeface="Leroy Merlin Sans"/>
                <a:ea typeface="Leroy Merlin Sans"/>
                <a:cs typeface="Leroy Merlin Sans"/>
                <a:sym typeface="Leroy Merlin Sans"/>
              </a:rPr>
              <a:t>Portal do Fornecedor &gt; Menu &gt; Fale Conosco &gt; Nova Ocorrência &gt; Funcionalidades do Portal &gt;</a:t>
            </a:r>
            <a:r>
              <a:rPr b="1" i="0" lang="en-BR" sz="1400" u="none" cap="none" strike="noStrike">
                <a:solidFill>
                  <a:srgbClr val="44546A"/>
                </a:solidFill>
                <a:latin typeface="Leroy Merlin Sans"/>
                <a:ea typeface="Leroy Merlin Sans"/>
                <a:cs typeface="Leroy Merlin Sans"/>
                <a:sym typeface="Leroy Merlin Sans"/>
              </a:rPr>
              <a:t> </a:t>
            </a:r>
            <a:r>
              <a:rPr b="1" lang="en-BR">
                <a:solidFill>
                  <a:srgbClr val="CC0000"/>
                </a:solidFill>
                <a:latin typeface="Leroy Merlin Sans"/>
                <a:ea typeface="Leroy Merlin Sans"/>
                <a:cs typeface="Leroy Merlin Sans"/>
                <a:sym typeface="Leroy Merlin Sans"/>
              </a:rPr>
              <a:t>Integração via API</a:t>
            </a:r>
            <a:endParaRPr b="1" i="0" sz="2400" u="none" cap="none" strike="noStrike">
              <a:solidFill>
                <a:srgbClr val="CC0000"/>
              </a:solidFill>
              <a:latin typeface="Leroy Merlin Sans"/>
              <a:ea typeface="Leroy Merlin Sans"/>
              <a:cs typeface="Leroy Merlin Sans"/>
              <a:sym typeface="Leroy Merlin Sans"/>
            </a:endParaRPr>
          </a:p>
        </p:txBody>
      </p:sp>
      <p:cxnSp>
        <p:nvCxnSpPr>
          <p:cNvPr id="336" name="Google Shape;336;g1ec99e7a8a2_0_99"/>
          <p:cNvCxnSpPr>
            <a:endCxn id="334" idx="1"/>
          </p:cNvCxnSpPr>
          <p:nvPr/>
        </p:nvCxnSpPr>
        <p:spPr>
          <a:xfrm rot="-5400000">
            <a:off x="5762625" y="4431100"/>
            <a:ext cx="1189800" cy="695100"/>
          </a:xfrm>
          <a:prstGeom prst="bentConnector2">
            <a:avLst/>
          </a:prstGeom>
          <a:noFill/>
          <a:ln cap="flat" cmpd="sng" w="28575">
            <a:solidFill>
              <a:srgbClr val="72BF44"/>
            </a:solidFill>
            <a:prstDash val="solid"/>
            <a:round/>
            <a:headEnd len="sm" w="sm" type="none"/>
            <a:tailEnd len="sm" w="sm" type="none"/>
          </a:ln>
        </p:spPr>
      </p:cxnSp>
      <p:pic>
        <p:nvPicPr>
          <p:cNvPr id="337" name="Google Shape;337;g1ec99e7a8a2_0_99"/>
          <p:cNvPicPr preferRelativeResize="0"/>
          <p:nvPr/>
        </p:nvPicPr>
        <p:blipFill>
          <a:blip r:embed="rId7">
            <a:alphaModFix/>
          </a:blip>
          <a:stretch>
            <a:fillRect/>
          </a:stretch>
        </p:blipFill>
        <p:spPr>
          <a:xfrm>
            <a:off x="8373950" y="3704513"/>
            <a:ext cx="3442507" cy="958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pic>
        <p:nvPicPr>
          <p:cNvPr id="342" name="Google Shape;342;ge5f072a9c2_0_0"/>
          <p:cNvPicPr preferRelativeResize="0"/>
          <p:nvPr/>
        </p:nvPicPr>
        <p:blipFill rotWithShape="1">
          <a:blip r:embed="rId3">
            <a:alphaModFix/>
          </a:blip>
          <a:srcRect b="0" l="0" r="0" t="0"/>
          <a:stretch/>
        </p:blipFill>
        <p:spPr>
          <a:xfrm>
            <a:off x="4412625" y="1999599"/>
            <a:ext cx="3366750" cy="2046324"/>
          </a:xfrm>
          <a:prstGeom prst="rect">
            <a:avLst/>
          </a:prstGeom>
          <a:noFill/>
          <a:ln>
            <a:noFill/>
          </a:ln>
        </p:spPr>
      </p:pic>
      <p:sp>
        <p:nvSpPr>
          <p:cNvPr id="343" name="Google Shape;343;ge5f072a9c2_0_0"/>
          <p:cNvSpPr txBox="1"/>
          <p:nvPr/>
        </p:nvSpPr>
        <p:spPr>
          <a:xfrm>
            <a:off x="2562150" y="4943150"/>
            <a:ext cx="70677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BR" sz="4000" u="none" cap="none" strike="noStrike">
                <a:solidFill>
                  <a:srgbClr val="434343"/>
                </a:solidFill>
                <a:latin typeface="Leroy Merlin Sans"/>
                <a:ea typeface="Leroy Merlin Sans"/>
                <a:cs typeface="Leroy Merlin Sans"/>
                <a:sym typeface="Leroy Merlin Sans"/>
              </a:rPr>
              <a:t>Estamos a diposição</a:t>
            </a:r>
            <a:endParaRPr b="0" i="0" sz="4000" u="none" cap="none" strike="noStrike">
              <a:solidFill>
                <a:srgbClr val="434343"/>
              </a:solidFill>
              <a:latin typeface="Leroy Merlin Sans"/>
              <a:ea typeface="Leroy Merlin Sans"/>
              <a:cs typeface="Leroy Merlin Sans"/>
              <a:sym typeface="Leroy Merli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